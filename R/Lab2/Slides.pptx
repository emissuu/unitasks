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2699"/>
      </p:ext>
    </p:extLst>
  </p:cSld>
  <p:clrMapOvr>
    <a:masterClrMapping/>
  </p:clrMapOvr>
  <p:transition spd="slow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228600" indent="-228600">
              <a:buFont typeface="Arial" panose="020B0604020202020204" pitchFamily="34" charset="0"/>
              <a:buChar char="•"/>
              <a:defRPr/>
            </a:lvl2pPr>
            <a:lvl3pPr marL="228600" indent="-228600">
              <a:buFont typeface="Arial" panose="020B0604020202020204" pitchFamily="34" charset="0"/>
              <a:buChar char="•"/>
              <a:defRPr/>
            </a:lvl3pPr>
            <a:lvl4pPr marL="228600" indent="-228600">
              <a:buFont typeface="Arial" panose="020B0604020202020204" pitchFamily="34" charset="0"/>
              <a:buChar char="•"/>
              <a:defRPr/>
            </a:lvl4pPr>
            <a:lvl5pPr marL="2286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13544"/>
      </p:ext>
    </p:extLst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1089025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89025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859696"/>
      </p:ext>
    </p:extLst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37066"/>
      </p:ext>
    </p:extLst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5157787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01975"/>
            <a:ext cx="5157787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0863"/>
            <a:ext cx="5183188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01975"/>
            <a:ext cx="5183188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002133"/>
      </p:ext>
    </p:extLst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044625"/>
      </p:ext>
    </p:extLst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104638"/>
      </p:ext>
    </p:extLst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98120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944858"/>
      </p:ext>
    </p:extLst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209799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480422"/>
      </p:ext>
    </p:extLst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202251"/>
      </p:ext>
    </p:extLst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539" y="6324600"/>
            <a:ext cx="2560220" cy="365125"/>
          </a:xfrm>
        </p:spPr>
        <p:txBody>
          <a:bodyPr/>
          <a:lstStyle/>
          <a:p>
            <a:fld id="{5CC8096C-64ED-4153-A483-5C02E44AD5C3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19838"/>
            <a:ext cx="39827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779442"/>
      </p:ext>
    </p:extLst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A4798C7F-C8CA-4799-BF37-3AB4642CDB6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0794B-55D3-4D2D-BDE7-4688ED321E42}"/>
              </a:ext>
            </a:extLst>
          </p:cNvPr>
          <p:cNvGrpSpPr/>
          <p:nvPr/>
        </p:nvGrpSpPr>
        <p:grpSpPr>
          <a:xfrm>
            <a:off x="-11413" y="0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216BB147-20D5-4D93-BDA5-1BC614D6A4B2}"/>
              </a:ext>
            </a:extLst>
          </p:cNvPr>
          <p:cNvSpPr/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7229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‹№›</a:t>
            </a:fld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A253F60-DE40-4508-A37A-61331DF1DD5D}"/>
              </a:ext>
            </a:extLst>
          </p:cNvPr>
          <p:cNvSpPr/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406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1" r:id="rId6"/>
    <p:sldLayoutId id="2147483737" r:id="rId7"/>
    <p:sldLayoutId id="2147483738" r:id="rId8"/>
    <p:sldLayoutId id="2147483739" r:id="rId9"/>
    <p:sldLayoutId id="2147483740" r:id="rId10"/>
    <p:sldLayoutId id="2147483742" r:id="rId11"/>
  </p:sldLayoutIdLst>
  <p:transition spd="slow">
    <p:wipe dir="r"/>
  </p:transition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929113-1368-4B1B-9C6F-140F47CB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C24346C5-B1C8-4C83-846B-122A3B4B2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1555699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0F28F7A-4F2F-4C1B-AF1C-A6E7C795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23CC870-B5E9-475F-A625-9E862A62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2A6B08C-017D-4B4D-95EC-4BB83C554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4599402-E1B8-4E3B-A56D-68606FC1E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720C48A-E9A0-4B85-A954-39375E09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0E26956-FF2A-412E-ACC4-29CCD0259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B31E652-49AC-4108-85B8-75122A48A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C1DB29F-0624-4035-B188-640616D5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D27221C-2427-4C99-89DC-1A38A5405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DBF1D76-8076-4BAE-B627-F1861C9E0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E930E41-FC2F-4319-9C28-32C27843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0936C1B-0C10-464B-85C8-345095AA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B90EC61-FD0C-434A-9D1B-A20035C21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5F5CC56-1FDA-4D3E-9C6E-8E996026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72B8FB2-B735-480F-9A88-48AADB222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5B46C1B-4FC4-4E24-AC43-07940BE1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34915AF-0AE3-4EDD-8681-4C3F2C592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C35A3F3-714E-4F69-9BDF-8ED284E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3D561AC-B0B1-47EB-BE05-209F5612B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3508E52-4FD9-4E6D-AFEA-69A88ED26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69DDE76-16F7-472F-B6D7-84AE8FFF3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2D87BEF-8844-4A3E-B130-B7D26740C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B381129-2089-4EAA-AE6C-2BAA96BC8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B69BF7A-FA63-4706-8066-DF15018E6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A3ECB71-0CCD-403F-B14B-ABC48D78C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9095BBA-0FE1-49E5-89F7-22125BAF8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55351D8-6F27-4B82-968B-581B177C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51025A5-EB5A-4057-A85E-69AF0E6BE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030318B-EEB9-4D92-BC50-D1151098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17FC0E3-7CC7-4188-BC7A-7E8FB5564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8A20FD-E7F7-E2F3-9299-979E77531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42" y="732349"/>
            <a:ext cx="6542916" cy="2782508"/>
          </a:xfrm>
        </p:spPr>
        <p:txBody>
          <a:bodyPr anchor="ctr">
            <a:normAutofit/>
          </a:bodyPr>
          <a:lstStyle/>
          <a:p>
            <a:pPr algn="l"/>
            <a:r>
              <a:rPr lang="uk-UA">
                <a:solidFill>
                  <a:schemeClr val="tx2">
                    <a:alpha val="80000"/>
                  </a:schemeClr>
                </a:solidFill>
              </a:rPr>
              <a:t>Оглядовий аналіз та візуалізація даних (</a:t>
            </a:r>
            <a:r>
              <a:rPr lang="en-GB">
                <a:solidFill>
                  <a:schemeClr val="tx2">
                    <a:alpha val="80000"/>
                  </a:schemeClr>
                </a:solidFill>
              </a:rPr>
              <a:t>EDA)</a:t>
            </a:r>
            <a:endParaRPr lang="uk-UA">
              <a:solidFill>
                <a:schemeClr val="tx2">
                  <a:alpha val="80000"/>
                </a:schemeClr>
              </a:solidFill>
            </a:endParaRP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FAAB53A9-175C-4BA0-6500-99517B705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8593" y="725465"/>
            <a:ext cx="4612131" cy="2232201"/>
          </a:xfrm>
        </p:spPr>
        <p:txBody>
          <a:bodyPr anchor="ctr">
            <a:normAutofit/>
          </a:bodyPr>
          <a:lstStyle/>
          <a:p>
            <a:pPr algn="l"/>
            <a:r>
              <a:rPr lang="uk-UA" dirty="0">
                <a:solidFill>
                  <a:schemeClr val="tx2">
                    <a:alpha val="80000"/>
                  </a:schemeClr>
                </a:solidFill>
              </a:rPr>
              <a:t>Підготував студент групи КН-2</a:t>
            </a:r>
            <a:br>
              <a:rPr lang="uk-UA" dirty="0">
                <a:solidFill>
                  <a:schemeClr val="tx2">
                    <a:alpha val="80000"/>
                  </a:schemeClr>
                </a:solidFill>
              </a:rPr>
            </a:br>
            <a:r>
              <a:rPr lang="uk-UA" dirty="0">
                <a:solidFill>
                  <a:schemeClr val="tx2">
                    <a:alpha val="80000"/>
                  </a:schemeClr>
                </a:solidFill>
              </a:rPr>
              <a:t> </a:t>
            </a:r>
            <a:r>
              <a:rPr lang="uk-UA" dirty="0" err="1">
                <a:solidFill>
                  <a:schemeClr val="tx2">
                    <a:alpha val="80000"/>
                  </a:schemeClr>
                </a:solidFill>
              </a:rPr>
              <a:t>Луцюк</a:t>
            </a:r>
            <a:r>
              <a:rPr lang="uk-UA" dirty="0">
                <a:solidFill>
                  <a:schemeClr val="tx2">
                    <a:alpha val="80000"/>
                  </a:schemeClr>
                </a:solidFill>
              </a:rPr>
              <a:t> Богдан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2CDC38-A908-E75C-69A6-E0C5DF73F6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697" r="2" b="28378"/>
          <a:stretch>
            <a:fillRect/>
          </a:stretch>
        </p:blipFill>
        <p:spPr>
          <a:xfrm>
            <a:off x="1" y="3271957"/>
            <a:ext cx="12198212" cy="3599364"/>
          </a:xfrm>
          <a:custGeom>
            <a:avLst/>
            <a:gdLst/>
            <a:ahLst/>
            <a:cxnLst/>
            <a:rect l="l" t="t" r="r" b="b"/>
            <a:pathLst>
              <a:path w="12178449" h="3424057">
                <a:moveTo>
                  <a:pt x="8778628" y="0"/>
                </a:moveTo>
                <a:lnTo>
                  <a:pt x="9096995" y="0"/>
                </a:lnTo>
                <a:lnTo>
                  <a:pt x="9540073" y="10341"/>
                </a:lnTo>
                <a:cubicBezTo>
                  <a:pt x="10154127" y="37036"/>
                  <a:pt x="10847400" y="104023"/>
                  <a:pt x="11653844" y="224215"/>
                </a:cubicBezTo>
                <a:lnTo>
                  <a:pt x="12178449" y="307575"/>
                </a:lnTo>
                <a:lnTo>
                  <a:pt x="12178449" y="3424056"/>
                </a:lnTo>
                <a:lnTo>
                  <a:pt x="0" y="3424057"/>
                </a:lnTo>
                <a:lnTo>
                  <a:pt x="0" y="1093185"/>
                </a:lnTo>
                <a:lnTo>
                  <a:pt x="851945" y="1080793"/>
                </a:lnTo>
                <a:cubicBezTo>
                  <a:pt x="4637202" y="967650"/>
                  <a:pt x="5848483" y="115490"/>
                  <a:pt x="8385751" y="774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28986965"/>
      </p:ext>
    </p:extLst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FF9DCE-1E67-CE08-3A52-32E3C173C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Мета дослідження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A8B8728-6CA2-639D-31DF-295BB71B3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Провести аналіз клієнтської бази супермаркету для знаходження факторів, що впливають на відгук клієнтів на особливі пропозиції. Також сформулювати гіпотези для подальшої маркетингової стратегії.</a:t>
            </a:r>
          </a:p>
        </p:txBody>
      </p:sp>
    </p:spTree>
    <p:extLst>
      <p:ext uri="{BB962C8B-B14F-4D97-AF65-F5344CB8AC3E}">
        <p14:creationId xmlns:p14="http://schemas.microsoft.com/office/powerpoint/2010/main" val="3754876056"/>
      </p:ext>
    </p:extLst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0209BB-4500-1074-9044-A8F6F3D4F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Опис </a:t>
            </a:r>
            <a:r>
              <a:rPr lang="uk-UA" dirty="0" err="1"/>
              <a:t>датасету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F3B96DA-7B70-9941-0EFE-06C12A287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uk-UA" sz="1500" dirty="0"/>
              <a:t>Відгук – чи відгукнувся клієнт на пропозицію;</a:t>
            </a:r>
          </a:p>
          <a:p>
            <a:r>
              <a:rPr lang="uk-UA" sz="1500" dirty="0"/>
              <a:t>Рік народження</a:t>
            </a:r>
          </a:p>
          <a:p>
            <a:r>
              <a:rPr lang="uk-UA" sz="1500" dirty="0"/>
              <a:t>Жалоби  - чи надсилав клієнт жалобу за останні 2 роки;</a:t>
            </a:r>
          </a:p>
          <a:p>
            <a:r>
              <a:rPr lang="uk-UA" sz="1500" dirty="0"/>
              <a:t>Дата реєстрації</a:t>
            </a:r>
          </a:p>
          <a:p>
            <a:r>
              <a:rPr lang="uk-UA" sz="1500" dirty="0"/>
              <a:t>Освіта – базова/бакалавр/магістр/доктор наук ;</a:t>
            </a:r>
          </a:p>
          <a:p>
            <a:r>
              <a:rPr lang="uk-UA" sz="1500" dirty="0"/>
              <a:t>Сімейний стан – </a:t>
            </a:r>
            <a:r>
              <a:rPr lang="ru-RU" sz="1500" dirty="0" err="1"/>
              <a:t>одружений</a:t>
            </a:r>
            <a:r>
              <a:rPr lang="ru-RU" sz="1500" dirty="0"/>
              <a:t>, в </a:t>
            </a:r>
            <a:r>
              <a:rPr lang="ru-RU" sz="1500" dirty="0" err="1"/>
              <a:t>відносинах</a:t>
            </a:r>
            <a:r>
              <a:rPr lang="ru-RU" sz="1500" dirty="0"/>
              <a:t>, </a:t>
            </a:r>
            <a:r>
              <a:rPr lang="ru-RU" sz="1500" dirty="0" err="1"/>
              <a:t>неодружений</a:t>
            </a:r>
            <a:r>
              <a:rPr lang="ru-RU" sz="1500" dirty="0"/>
              <a:t>, </a:t>
            </a:r>
            <a:r>
              <a:rPr lang="ru-RU" sz="1500" dirty="0" err="1"/>
              <a:t>розлучений</a:t>
            </a:r>
            <a:r>
              <a:rPr lang="ru-RU" sz="1500" dirty="0"/>
              <a:t>, </a:t>
            </a:r>
            <a:r>
              <a:rPr lang="ru-RU" sz="1500" dirty="0" err="1"/>
              <a:t>вдівець</a:t>
            </a:r>
            <a:r>
              <a:rPr lang="ru-RU" sz="1500" dirty="0"/>
              <a:t>;</a:t>
            </a:r>
          </a:p>
          <a:p>
            <a:r>
              <a:rPr lang="uk-UA" sz="1500" dirty="0"/>
              <a:t>Діти – кількість дітей в сім’ї;</a:t>
            </a:r>
          </a:p>
          <a:p>
            <a:r>
              <a:rPr lang="uk-UA" sz="1500" dirty="0"/>
              <a:t>Прибуток</a:t>
            </a:r>
          </a:p>
          <a:p>
            <a:r>
              <a:rPr lang="uk-UA" sz="1500" dirty="0"/>
              <a:t>Витрати на рибні продукти/м’ясні продукти/фрукти/солодощі/вина/золото – витрати на вказані продукти за останні два роки;</a:t>
            </a:r>
          </a:p>
          <a:p>
            <a:r>
              <a:rPr lang="uk-UA" sz="1500" dirty="0"/>
              <a:t>Кількість покупок зі знижкою/через каталог/в магазинах/через веб-застосунок/кількість відвідувань веб-застосунку;</a:t>
            </a:r>
          </a:p>
          <a:p>
            <a:r>
              <a:rPr lang="uk-UA" sz="1500" dirty="0"/>
              <a:t>Днів з минулої покупки</a:t>
            </a:r>
          </a:p>
        </p:txBody>
      </p:sp>
    </p:spTree>
    <p:extLst>
      <p:ext uri="{BB962C8B-B14F-4D97-AF65-F5344CB8AC3E}">
        <p14:creationId xmlns:p14="http://schemas.microsoft.com/office/powerpoint/2010/main" val="1005764327"/>
      </p:ext>
    </p:extLst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7930" y="1422741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2FBF0C-82BE-1AA7-E11D-7386463C3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32348"/>
            <a:ext cx="4419600" cy="2240735"/>
          </a:xfrm>
        </p:spPr>
        <p:txBody>
          <a:bodyPr>
            <a:normAutofit/>
          </a:bodyPr>
          <a:lstStyle/>
          <a:p>
            <a:r>
              <a:rPr lang="uk-UA" dirty="0"/>
              <a:t>Вік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2A5B6E5-33B3-9364-B536-81896AA25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3264832"/>
            <a:ext cx="4419600" cy="3009494"/>
          </a:xfrm>
        </p:spPr>
        <p:txBody>
          <a:bodyPr>
            <a:normAutofit/>
          </a:bodyPr>
          <a:lstStyle/>
          <a:p>
            <a:r>
              <a:rPr lang="uk-UA" sz="1800" dirty="0"/>
              <a:t>Більшість клієнтів мають вік від 34 до 68 років</a:t>
            </a:r>
          </a:p>
          <a:p>
            <a:r>
              <a:rPr lang="uk-UA" sz="1800" dirty="0"/>
              <a:t>Найбільше клієнтів мають вік біля 44 років</a:t>
            </a:r>
          </a:p>
          <a:p>
            <a:endParaRPr lang="en-US" sz="1800" dirty="0"/>
          </a:p>
        </p:txBody>
      </p:sp>
      <p:sp>
        <p:nvSpPr>
          <p:cNvPr id="49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5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03717E4C-9A7B-67D6-2919-9017446B2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767" y="954947"/>
            <a:ext cx="6795701" cy="509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031735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12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3" name="Rectangle 14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4" name="Right Triangle 16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7930" y="1422741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18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20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386401-80CF-9521-1DD3-BB2B6D295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32348"/>
            <a:ext cx="4419600" cy="2240735"/>
          </a:xfrm>
        </p:spPr>
        <p:txBody>
          <a:bodyPr>
            <a:normAutofit/>
          </a:bodyPr>
          <a:lstStyle/>
          <a:p>
            <a:r>
              <a:rPr lang="uk-UA" dirty="0"/>
              <a:t>Освіта</a:t>
            </a:r>
          </a:p>
        </p:txBody>
      </p:sp>
      <p:sp>
        <p:nvSpPr>
          <p:cNvPr id="57" name="Content Placeholder 9">
            <a:extLst>
              <a:ext uri="{FF2B5EF4-FFF2-40B4-BE49-F238E27FC236}">
                <a16:creationId xmlns:a16="http://schemas.microsoft.com/office/drawing/2014/main" id="{40E441A9-2842-5F3D-DBB0-E1EC55E45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3264832"/>
            <a:ext cx="4419600" cy="3009494"/>
          </a:xfrm>
        </p:spPr>
        <p:txBody>
          <a:bodyPr>
            <a:normAutofit/>
          </a:bodyPr>
          <a:lstStyle/>
          <a:p>
            <a:r>
              <a:rPr lang="uk-UA" sz="1800" dirty="0"/>
              <a:t>Як можемо помітити, переважна більшість клієнтів мають вищу освіту.</a:t>
            </a:r>
          </a:p>
          <a:p>
            <a:r>
              <a:rPr lang="uk-UA" sz="1800" dirty="0"/>
              <a:t>47% мають освіту вищу за бакалавра.</a:t>
            </a:r>
            <a:endParaRPr lang="en-US" sz="1800" dirty="0"/>
          </a:p>
        </p:txBody>
      </p:sp>
      <p:sp>
        <p:nvSpPr>
          <p:cNvPr id="50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5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95FE012D-81EE-94EF-9D4F-7CE9B8B7E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767" y="954947"/>
            <a:ext cx="6795701" cy="509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852173"/>
      </p:ext>
    </p:extLst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9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Freeform: Shape 42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2" name="Freeform: Shape 44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3" name="Rectangle 46">
            <a:extLst>
              <a:ext uri="{FF2B5EF4-FFF2-40B4-BE49-F238E27FC236}">
                <a16:creationId xmlns:a16="http://schemas.microsoft.com/office/drawing/2014/main" id="{326AD51D-D59E-4689-A5DF-6A9857053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5578CCE-1E06-4634-B7D3-B75915B79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58694FA-DDF2-4463-8E27-E40C7B705D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66F117C-BB6F-4A4D-B9E6-7352647BF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FDD06D7-A858-4BE9-B269-786451727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B9716CE-4E07-44BE-9271-E478BBE78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4E8B64A-EF2F-47BF-AF60-22693FBD5B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79EBB16F-B1A9-45AE-9C7A-503A402F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F44818A-E73A-4763-8B27-B5244AD163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43A7F77-4F07-4CD4-B62F-B3AF76ADF4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C64748D-7F97-429F-8A7B-8D7EEB1E2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BB97A24-973F-442A-99BA-8AC5FB1D1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9732AE5-4438-4E42-834A-653713C0B6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3E2B6CE-9310-4CD9-B1C7-2DBFB5613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959B4D1-86FF-4165-945E-3265E3F00D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8B56538-E579-4678-B2C4-190218F65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C898F5F-7AAE-453A-82FE-F4247F2F4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7D95DBF-0AAC-4741-91B1-649F6FE7D7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B3F59BE-64EE-4780-9361-E231148A43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BE6D2F5-CA3E-4BC3-B8FE-49E3FAC000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EF74E0F-547D-4E30-B042-E040A1639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948BBB3-C56E-4DCA-B93A-71D4754768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6449CBA-E814-4F9C-9FC8-0B2E05BFB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5F9BC37-BDF5-45BE-B728-B10A9565A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14572B9-7D58-48F6-A290-9EF097595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2C4CAC2-0AC5-408F-92EA-7FB0F63A5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504E629-A4AD-411E-B4C0-B205748A1B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9BA5C51-7F10-4E99-BF13-383E0B5DE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7F8EAE2-B22F-48D7-875C-C68B07B5C3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7E1B9FF-384B-455E-88A2-93A4CC7910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9A8FF40-B2F4-4522-9598-E0F0279151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4" name="Freeform: Shape 79">
            <a:extLst>
              <a:ext uri="{FF2B5EF4-FFF2-40B4-BE49-F238E27FC236}">
                <a16:creationId xmlns:a16="http://schemas.microsoft.com/office/drawing/2014/main" id="{7A6DA27B-24A2-4FAF-9CB9-A814BF835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55" name="Group 81">
            <a:extLst>
              <a:ext uri="{FF2B5EF4-FFF2-40B4-BE49-F238E27FC236}">
                <a16:creationId xmlns:a16="http://schemas.microsoft.com/office/drawing/2014/main" id="{ED48258A-6826-4A24-97F8-B65FE4D99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A43F6B7F-6CF7-4212-8A4C-0AF81FCC70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ECD379A7-2614-4A67-8607-5A9FF0118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E972002F-2AF6-4170-83C8-3AC461AEA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6F1082F6-3D56-4AD7-A271-A7CDEE46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CCEA333-BCA4-414F-8235-43D426595D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087971C1-BBD6-4201-A93D-DF09B2B4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28F0E17-F524-4028-ABA2-99D293B7F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59CA3BF8-B976-46BC-9FD8-0BBFED3A5F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130B60B9-F7F0-4B6E-848E-94EB0E9D1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AF33B57A-CBB1-4201-BB5A-75E5AB6F8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C16721E5-E31C-4F26-9D10-29EDA029E0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DADFEDD-1B94-4EA7-B826-5E342BD4B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F0AE683-15D4-4904-BB82-96ADABE671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5EF4A50C-5A07-4204-8915-10F2B32D60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3E84E616-3881-4F89-8F3A-EC4C9F3EB4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FACE3E7B-5CF6-4605-8EA9-F03A222AA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77AE8FF-E1E0-49F8-972B-3BCAD57D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68F76A8B-AC15-4215-884C-57C94FE75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829813CA-E925-41BB-A818-AEEBD58D78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CED9DD07-B629-4508-99B3-666544E5D8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3859C10A-6DEF-4B98-9208-9681745D09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8F930A6-B089-462C-8699-E7DEC651D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49FCA652-5425-4350-80D2-DF3A72932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614C2703-817B-4E61-B0C1-B8A18B7B7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E9756F19-602C-437D-89D3-AA582DE6E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AD912F9B-FBEE-468E-9E40-4A911738B0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C3008689-B0A9-46C9-888F-0427372872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8AA2E07E-83FC-4A07-A945-64C914BB2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FBC3CD54-7A49-4290-9D69-AC69160EE7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56" name="Rectangle 112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57" name="Rectangle 114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58" name="Flowchart: Document 8">
            <a:extLst>
              <a:ext uri="{FF2B5EF4-FFF2-40B4-BE49-F238E27FC236}">
                <a16:creationId xmlns:a16="http://schemas.microsoft.com/office/drawing/2014/main" id="{4BE5C09D-B3C1-42F3-B945-39AEDFD19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646597" y="287679"/>
            <a:ext cx="6867330" cy="6273311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  <a:gd name="connsiteX0" fmla="*/ 17 w 21656"/>
              <a:gd name="connsiteY0" fmla="*/ 147 h 47742"/>
              <a:gd name="connsiteX1" fmla="*/ 21637 w 21656"/>
              <a:gd name="connsiteY1" fmla="*/ 0 h 47742"/>
              <a:gd name="connsiteX2" fmla="*/ 21656 w 21656"/>
              <a:gd name="connsiteY2" fmla="*/ 43796 h 47742"/>
              <a:gd name="connsiteX3" fmla="*/ 0 w 21656"/>
              <a:gd name="connsiteY3" fmla="*/ 46582 h 47742"/>
              <a:gd name="connsiteX4" fmla="*/ 17 w 21656"/>
              <a:gd name="connsiteY4" fmla="*/ 147 h 47742"/>
              <a:gd name="connsiteX0" fmla="*/ 17 w 21663"/>
              <a:gd name="connsiteY0" fmla="*/ 73 h 47668"/>
              <a:gd name="connsiteX1" fmla="*/ 21663 w 21663"/>
              <a:gd name="connsiteY1" fmla="*/ 0 h 47668"/>
              <a:gd name="connsiteX2" fmla="*/ 21656 w 21663"/>
              <a:gd name="connsiteY2" fmla="*/ 43722 h 47668"/>
              <a:gd name="connsiteX3" fmla="*/ 0 w 21663"/>
              <a:gd name="connsiteY3" fmla="*/ 46508 h 47668"/>
              <a:gd name="connsiteX4" fmla="*/ 17 w 21663"/>
              <a:gd name="connsiteY4" fmla="*/ 73 h 47668"/>
              <a:gd name="connsiteX0" fmla="*/ 5 w 21671"/>
              <a:gd name="connsiteY0" fmla="*/ 73 h 47668"/>
              <a:gd name="connsiteX1" fmla="*/ 21671 w 21671"/>
              <a:gd name="connsiteY1" fmla="*/ 0 h 47668"/>
              <a:gd name="connsiteX2" fmla="*/ 21664 w 21671"/>
              <a:gd name="connsiteY2" fmla="*/ 43722 h 47668"/>
              <a:gd name="connsiteX3" fmla="*/ 8 w 21671"/>
              <a:gd name="connsiteY3" fmla="*/ 46508 h 47668"/>
              <a:gd name="connsiteX4" fmla="*/ 5 w 21671"/>
              <a:gd name="connsiteY4" fmla="*/ 73 h 47668"/>
              <a:gd name="connsiteX0" fmla="*/ 5 w 21671"/>
              <a:gd name="connsiteY0" fmla="*/ 73 h 47668"/>
              <a:gd name="connsiteX1" fmla="*/ 21671 w 21671"/>
              <a:gd name="connsiteY1" fmla="*/ 0 h 47668"/>
              <a:gd name="connsiteX2" fmla="*/ 21670 w 21671"/>
              <a:gd name="connsiteY2" fmla="*/ 43722 h 47668"/>
              <a:gd name="connsiteX3" fmla="*/ 8 w 21671"/>
              <a:gd name="connsiteY3" fmla="*/ 46508 h 47668"/>
              <a:gd name="connsiteX4" fmla="*/ 5 w 21671"/>
              <a:gd name="connsiteY4" fmla="*/ 73 h 47668"/>
              <a:gd name="connsiteX0" fmla="*/ 4 w 21676"/>
              <a:gd name="connsiteY0" fmla="*/ 0 h 47722"/>
              <a:gd name="connsiteX1" fmla="*/ 21676 w 21676"/>
              <a:gd name="connsiteY1" fmla="*/ 54 h 47722"/>
              <a:gd name="connsiteX2" fmla="*/ 21675 w 21676"/>
              <a:gd name="connsiteY2" fmla="*/ 43776 h 47722"/>
              <a:gd name="connsiteX3" fmla="*/ 13 w 21676"/>
              <a:gd name="connsiteY3" fmla="*/ 46562 h 47722"/>
              <a:gd name="connsiteX4" fmla="*/ 4 w 21676"/>
              <a:gd name="connsiteY4" fmla="*/ 0 h 4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76" h="47722">
                <a:moveTo>
                  <a:pt x="4" y="0"/>
                </a:moveTo>
                <a:lnTo>
                  <a:pt x="21676" y="54"/>
                </a:lnTo>
                <a:cubicBezTo>
                  <a:pt x="21676" y="5828"/>
                  <a:pt x="21675" y="38002"/>
                  <a:pt x="21675" y="43776"/>
                </a:cubicBezTo>
                <a:cubicBezTo>
                  <a:pt x="10875" y="43776"/>
                  <a:pt x="10813" y="50312"/>
                  <a:pt x="13" y="46562"/>
                </a:cubicBezTo>
                <a:cubicBezTo>
                  <a:pt x="32" y="31095"/>
                  <a:pt x="-15" y="15467"/>
                  <a:pt x="4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59" name="Group 118">
            <a:extLst>
              <a:ext uri="{FF2B5EF4-FFF2-40B4-BE49-F238E27FC236}">
                <a16:creationId xmlns:a16="http://schemas.microsoft.com/office/drawing/2014/main" id="{628E122F-BCB2-43BD-850B-48491CEEF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414FAAF8-31CB-4B07-B529-5A88EFF682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746BA361-B0A5-4ABB-A288-CFDE7BAEF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453021D8-E018-4408-8CCA-024F3FC31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2B92D8BD-E859-46F2-89FC-FC259125D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D731C846-C584-4E9F-872D-500B07D10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9FD6636C-54CD-4310-9F2B-9A9CF3EC9B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288113FA-166F-40E3-991C-33200E387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85DD2EA6-4E91-475D-B141-030955A02E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077A4A45-7AB6-4608-9030-A70A5E3B3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D8252ABC-9FDF-43E9-A030-94081E5837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D5000E7-8B90-4C3E-9DA8-8A7DF0152F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2DD251B8-330C-4939-93B6-C4FEDF6AC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6763F2D5-1D97-451F-9EE1-C959342FC9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09B81618-BDA5-46C2-A54E-4448465A5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F15D9E70-4AC3-46E9-93DB-07CB2B41E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15B884CB-61A3-4841-A661-215EE93E31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51808844-2CD5-4FB3-B3F6-CE5B82F89A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9FFDFB79-ADB0-49E8-919B-A0BB9190F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63AABDCA-76BB-4D33-8117-D688C0BF9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7C3DC4D8-930D-4D21-A1D0-45FF81BA15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DFC86F57-A8B2-4BA9-8751-CF0F43F25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E6A34578-DE1C-4566-8856-1430B428B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8DEE8827-9D87-4C09-9A85-FB043BFB0E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3FE11D9A-8DF5-4CD5-9B3C-4BBE69908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6150C108-376E-4B3A-84BE-5288AC2D5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AFBF9B4D-FC7D-4A99-9AD8-90C125364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C747BAB4-EE42-4FB9-ABB4-6ABF823F6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F56D09A2-DE8A-4396-A490-AC84A3878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37F35D0F-3113-4375-9BA7-093C9BC71A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Місце для вмісту 10">
            <a:extLst>
              <a:ext uri="{FF2B5EF4-FFF2-40B4-BE49-F238E27FC236}">
                <a16:creationId xmlns:a16="http://schemas.microsoft.com/office/drawing/2014/main" id="{880B2DA5-DE02-3D74-30A2-AE2B3E4FF4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0080" y="189270"/>
            <a:ext cx="8595359" cy="644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759139"/>
      </p:ext>
    </p:extLst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7930" y="1422741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48E483-31D4-0F66-27BF-670BBE1C0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32348"/>
            <a:ext cx="4419600" cy="2240735"/>
          </a:xfrm>
        </p:spPr>
        <p:txBody>
          <a:bodyPr>
            <a:normAutofit/>
          </a:bodyPr>
          <a:lstStyle/>
          <a:p>
            <a:r>
              <a:rPr lang="uk-UA" dirty="0"/>
              <a:t>Скільки відгукнулось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0A7E38B-929F-696A-5EA6-C126BC3D1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3264832"/>
            <a:ext cx="4419600" cy="3009494"/>
          </a:xfrm>
        </p:spPr>
        <p:txBody>
          <a:bodyPr>
            <a:normAutofit/>
          </a:bodyPr>
          <a:lstStyle/>
          <a:p>
            <a:r>
              <a:rPr lang="uk-UA" sz="1800" dirty="0"/>
              <a:t>Відгукнулись лише 15% користувачів. Дослідимо, які фактори впливають на це.</a:t>
            </a:r>
            <a:endParaRPr lang="en-US" sz="1800" dirty="0"/>
          </a:p>
        </p:txBody>
      </p:sp>
      <p:sp>
        <p:nvSpPr>
          <p:cNvPr id="49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5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C5C78763-FC7C-D90B-7A69-8AFBA6FCF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767" y="954947"/>
            <a:ext cx="6795701" cy="509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265369"/>
      </p:ext>
    </p:extLst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7930" y="1422741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22CB5-98CC-AA21-A8BB-B5C49F2AA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32348"/>
            <a:ext cx="4419600" cy="2240735"/>
          </a:xfrm>
        </p:spPr>
        <p:txBody>
          <a:bodyPr>
            <a:normAutofit/>
          </a:bodyPr>
          <a:lstStyle/>
          <a:p>
            <a:r>
              <a:rPr lang="uk-UA" dirty="0"/>
              <a:t>Витрати на покупки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6062C6F-3938-B115-4316-C8307A896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3264832"/>
            <a:ext cx="4419600" cy="3009494"/>
          </a:xfrm>
        </p:spPr>
        <p:txBody>
          <a:bodyPr>
            <a:normAutofit/>
          </a:bodyPr>
          <a:lstStyle/>
          <a:p>
            <a:r>
              <a:rPr lang="uk-UA" sz="1800" dirty="0"/>
              <a:t>Можемо помітити, що більшість клієнтів, які не відгукнулись витрачали на покупки менше 500 доларів.</a:t>
            </a:r>
          </a:p>
          <a:p>
            <a:r>
              <a:rPr lang="uk-UA" sz="1800" dirty="0"/>
              <a:t>Клієнти, які витрачали більше 1000 доларів відгукувались найчастіше.</a:t>
            </a:r>
            <a:endParaRPr lang="en-US" sz="1800" dirty="0"/>
          </a:p>
        </p:txBody>
      </p:sp>
      <p:sp>
        <p:nvSpPr>
          <p:cNvPr id="49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5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062A68F5-0E65-6949-397F-C32D3E146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767" y="954947"/>
            <a:ext cx="6795701" cy="509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210398"/>
      </p:ext>
    </p:extLst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7930" y="1422741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9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F39D88-144E-9525-990D-712DCE31D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32348"/>
            <a:ext cx="4419600" cy="2240735"/>
          </a:xfrm>
        </p:spPr>
        <p:txBody>
          <a:bodyPr>
            <a:normAutofit/>
          </a:bodyPr>
          <a:lstStyle/>
          <a:p>
            <a:r>
              <a:rPr lang="uk-UA" dirty="0"/>
              <a:t>Прибуток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91FF1EA-32A5-511F-3833-7C257420D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3264832"/>
            <a:ext cx="4419600" cy="3009494"/>
          </a:xfrm>
        </p:spPr>
        <p:txBody>
          <a:bodyPr>
            <a:normAutofit/>
          </a:bodyPr>
          <a:lstStyle/>
          <a:p>
            <a:r>
              <a:rPr lang="uk-UA" sz="1800" dirty="0"/>
              <a:t>Клієнти, які мають прибуток вище 70000 доларів відгукуються найчастіше. </a:t>
            </a:r>
          </a:p>
          <a:p>
            <a:endParaRPr lang="en-US" sz="1800" dirty="0"/>
          </a:p>
        </p:txBody>
      </p:sp>
      <p:sp>
        <p:nvSpPr>
          <p:cNvPr id="49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5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43E7582F-D6D1-B2F4-BC04-81FF939C7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767" y="954947"/>
            <a:ext cx="6795701" cy="509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603542"/>
      </p:ext>
    </p:extLst>
  </p:cSld>
  <p:clrMapOvr>
    <a:masterClrMapping/>
  </p:clrMapOvr>
  <p:transition spd="slow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7930" y="1422741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CC2FFD-D535-41BE-82FC-4AB04037F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32348"/>
            <a:ext cx="4419600" cy="2240735"/>
          </a:xfrm>
        </p:spPr>
        <p:txBody>
          <a:bodyPr>
            <a:normAutofit/>
          </a:bodyPr>
          <a:lstStyle/>
          <a:p>
            <a:r>
              <a:rPr lang="uk-UA" dirty="0"/>
              <a:t>Днів з останньої покупки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4AC90E2-A602-3452-CB02-305CE7638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3264832"/>
            <a:ext cx="4419600" cy="3009494"/>
          </a:xfrm>
        </p:spPr>
        <p:txBody>
          <a:bodyPr>
            <a:normAutofit/>
          </a:bodyPr>
          <a:lstStyle/>
          <a:p>
            <a:r>
              <a:rPr lang="uk-UA" sz="1800" dirty="0"/>
              <a:t>Клієнти частіше роблять покупки, більш ймовірно відгукуються на пропозиції.</a:t>
            </a:r>
          </a:p>
          <a:p>
            <a:r>
              <a:rPr lang="uk-UA" sz="1800" dirty="0"/>
              <a:t>Клієнти ж, які давно нічого не купували, відгукуються дуже </a:t>
            </a:r>
            <a:r>
              <a:rPr lang="uk-UA" sz="1800" dirty="0" err="1"/>
              <a:t>рідко</a:t>
            </a:r>
            <a:r>
              <a:rPr lang="uk-UA" sz="1800" dirty="0"/>
              <a:t>.</a:t>
            </a:r>
            <a:endParaRPr lang="en-US" sz="1800" dirty="0"/>
          </a:p>
        </p:txBody>
      </p:sp>
      <p:sp>
        <p:nvSpPr>
          <p:cNvPr id="49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5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7E0F5D63-8B25-63E9-AE15-1E94CD9CA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767" y="954947"/>
            <a:ext cx="6795701" cy="509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548693"/>
      </p:ext>
    </p:extLst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7930" y="1422741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AA6285-CA53-C356-3999-7E9EF87AC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32348"/>
            <a:ext cx="4419600" cy="2240735"/>
          </a:xfrm>
        </p:spPr>
        <p:txBody>
          <a:bodyPr>
            <a:normAutofit/>
          </a:bodyPr>
          <a:lstStyle/>
          <a:p>
            <a:r>
              <a:rPr lang="uk-UA" dirty="0"/>
              <a:t>Освіта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5A22B17-F513-BCB1-5235-FAD47893E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3264832"/>
            <a:ext cx="4419600" cy="3009494"/>
          </a:xfrm>
        </p:spPr>
        <p:txBody>
          <a:bodyPr>
            <a:normAutofit/>
          </a:bodyPr>
          <a:lstStyle/>
          <a:p>
            <a:r>
              <a:rPr lang="uk-UA" sz="1800" dirty="0"/>
              <a:t>Чим вищу освіту має клієнт, тим більш ймовірно він відгукнеться на акційну пропозицію</a:t>
            </a:r>
            <a:endParaRPr lang="en-US" sz="1800" dirty="0"/>
          </a:p>
        </p:txBody>
      </p:sp>
      <p:sp>
        <p:nvSpPr>
          <p:cNvPr id="49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5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88022483-93FD-FFFF-AF8E-37DB8FD2F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767" y="954947"/>
            <a:ext cx="6795701" cy="509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587912"/>
      </p:ext>
    </p:extLst>
  </p:cSld>
  <p:clrMapOvr>
    <a:masterClrMapping/>
  </p:clrMapOvr>
  <p:transition spd="slow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7930" y="1422741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FCBAC7-58AC-157E-CA7B-EA8B97DD1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32348"/>
            <a:ext cx="4419600" cy="2240735"/>
          </a:xfrm>
        </p:spPr>
        <p:txBody>
          <a:bodyPr>
            <a:normAutofit/>
          </a:bodyPr>
          <a:lstStyle/>
          <a:p>
            <a:r>
              <a:rPr lang="uk-UA" dirty="0"/>
              <a:t>Кількість дітей в сім’ї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B28E11-9426-9056-A0F9-269551907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3264832"/>
            <a:ext cx="4419600" cy="3009494"/>
          </a:xfrm>
        </p:spPr>
        <p:txBody>
          <a:bodyPr>
            <a:normAutofit/>
          </a:bodyPr>
          <a:lstStyle/>
          <a:p>
            <a:r>
              <a:rPr lang="uk-UA" sz="1800" dirty="0"/>
              <a:t>Чим більше дітей є в сім’ї, тим клієнт менш ймовірно відгукнеться на акційну пропозицію</a:t>
            </a:r>
            <a:endParaRPr lang="en-US" sz="1800" dirty="0"/>
          </a:p>
        </p:txBody>
      </p:sp>
      <p:sp>
        <p:nvSpPr>
          <p:cNvPr id="49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5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6B85B90A-1C91-26DF-E297-67332260C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767" y="954947"/>
            <a:ext cx="6795701" cy="509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007939"/>
      </p:ext>
    </p:extLst>
  </p:cSld>
  <p:clrMapOvr>
    <a:masterClrMapping/>
  </p:clrMapOvr>
  <p:transition spd="slow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7930" y="1422741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EF2DD4-A2B1-33E2-63FC-07D33DA2A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32348"/>
            <a:ext cx="4419600" cy="2240735"/>
          </a:xfrm>
        </p:spPr>
        <p:txBody>
          <a:bodyPr>
            <a:normAutofit/>
          </a:bodyPr>
          <a:lstStyle/>
          <a:p>
            <a:r>
              <a:rPr lang="uk-UA" dirty="0"/>
              <a:t>Загальні витрати і прибуток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F9DD7FE-ABFE-750E-C0FF-BB25A73CE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3264832"/>
            <a:ext cx="4419600" cy="3009494"/>
          </a:xfrm>
        </p:spPr>
        <p:txBody>
          <a:bodyPr>
            <a:normAutofit/>
          </a:bodyPr>
          <a:lstStyle/>
          <a:p>
            <a:r>
              <a:rPr lang="uk-UA" sz="1800" dirty="0"/>
              <a:t>Можемо помітити що неодружені та одружені, що відгукуються за акційною пропозицією більш схильні витрачати більше при меншій заробітній платі.</a:t>
            </a:r>
            <a:endParaRPr lang="en-US" sz="1800" dirty="0"/>
          </a:p>
        </p:txBody>
      </p:sp>
      <p:sp>
        <p:nvSpPr>
          <p:cNvPr id="49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5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DC9A9AB-F6A1-EBBA-5DF0-C659870F6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259" y="982769"/>
            <a:ext cx="6791889" cy="509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932141"/>
      </p:ext>
    </p:extLst>
  </p:cSld>
  <p:clrMapOvr>
    <a:masterClrMapping/>
  </p:clrMapOvr>
  <p:transition spd="slow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93D7F3-DC5B-4CA6-2C15-326D27EC6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Інсайти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75354BF-DAC7-ED16-7E63-5C71DBE22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uk-UA" dirty="0"/>
              <a:t>Клієнти, що мають вищі витрати, відгукуються частіше. Варто зробити більше акцій для тих хто більше </a:t>
            </a:r>
            <a:r>
              <a:rPr lang="uk-UA" dirty="0" err="1"/>
              <a:t>витрачаєю</a:t>
            </a:r>
            <a:r>
              <a:rPr lang="uk-UA" dirty="0"/>
              <a:t>. Тоді число таких клієнтів зросте.</a:t>
            </a:r>
          </a:p>
          <a:p>
            <a:r>
              <a:rPr lang="uk-UA" dirty="0"/>
              <a:t>Клієнти, які мають більше дітей рідше відгукуються на пропозиції. Варто розробити набір бонусів для сімей, робити більше знижок на солодощі та товари для дітей. </a:t>
            </a:r>
          </a:p>
          <a:p>
            <a:r>
              <a:rPr lang="uk-UA" dirty="0"/>
              <a:t>Клієнти, що давно нічого не купували, менше відгукуються на акційні пропозиції. Варто запустити акцію для клієнтів, що нічого не купували протягом 50-60 днів. Тоді вони будуть робити покупки частіше.</a:t>
            </a:r>
          </a:p>
        </p:txBody>
      </p:sp>
    </p:spTree>
    <p:extLst>
      <p:ext uri="{BB962C8B-B14F-4D97-AF65-F5344CB8AC3E}">
        <p14:creationId xmlns:p14="http://schemas.microsoft.com/office/powerpoint/2010/main" val="209164519"/>
      </p:ext>
    </p:extLst>
  </p:cSld>
  <p:clrMapOvr>
    <a:masterClrMapping/>
  </p:clrMapOvr>
  <p:transition spd="slow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7" name="Rectangle 166">
            <a:extLst>
              <a:ext uri="{FF2B5EF4-FFF2-40B4-BE49-F238E27FC236}">
                <a16:creationId xmlns:a16="http://schemas.microsoft.com/office/drawing/2014/main" id="{EA643F3D-681E-4E69-952B-CC8B91F9D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71" name="Freeform: Shape 170">
            <a:extLst>
              <a:ext uri="{FF2B5EF4-FFF2-40B4-BE49-F238E27FC236}">
                <a16:creationId xmlns:a16="http://schemas.microsoft.com/office/drawing/2014/main" id="{50F87687-1CA1-43AC-8B43-ECDBDF021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01" y="11193"/>
            <a:ext cx="2453361" cy="2463420"/>
          </a:xfrm>
          <a:custGeom>
            <a:avLst/>
            <a:gdLst>
              <a:gd name="connsiteX0" fmla="*/ 1572556 w 2453361"/>
              <a:gd name="connsiteY0" fmla="*/ 0 h 2463420"/>
              <a:gd name="connsiteX1" fmla="*/ 2402993 w 2453361"/>
              <a:gd name="connsiteY1" fmla="*/ 0 h 2463420"/>
              <a:gd name="connsiteX2" fmla="*/ 2412321 w 2453361"/>
              <a:gd name="connsiteY2" fmla="*/ 36281 h 2463420"/>
              <a:gd name="connsiteX3" fmla="*/ 2453361 w 2453361"/>
              <a:gd name="connsiteY3" fmla="*/ 443388 h 2463420"/>
              <a:gd name="connsiteX4" fmla="*/ 433329 w 2453361"/>
              <a:gd name="connsiteY4" fmla="*/ 2463420 h 2463420"/>
              <a:gd name="connsiteX5" fmla="*/ 26222 w 2453361"/>
              <a:gd name="connsiteY5" fmla="*/ 2422380 h 2463420"/>
              <a:gd name="connsiteX6" fmla="*/ 0 w 2453361"/>
              <a:gd name="connsiteY6" fmla="*/ 2415638 h 2463420"/>
              <a:gd name="connsiteX7" fmla="*/ 0 w 2453361"/>
              <a:gd name="connsiteY7" fmla="*/ 1588157 h 2463420"/>
              <a:gd name="connsiteX8" fmla="*/ 69019 w 2453361"/>
              <a:gd name="connsiteY8" fmla="*/ 1613419 h 2463420"/>
              <a:gd name="connsiteX9" fmla="*/ 433329 w 2453361"/>
              <a:gd name="connsiteY9" fmla="*/ 1668497 h 2463420"/>
              <a:gd name="connsiteX10" fmla="*/ 1658438 w 2453361"/>
              <a:gd name="connsiteY10" fmla="*/ 443388 h 2463420"/>
              <a:gd name="connsiteX11" fmla="*/ 1633548 w 2453361"/>
              <a:gd name="connsiteY11" fmla="*/ 196486 h 2463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53361" h="2463420">
                <a:moveTo>
                  <a:pt x="1572556" y="0"/>
                </a:moveTo>
                <a:lnTo>
                  <a:pt x="2402993" y="0"/>
                </a:lnTo>
                <a:lnTo>
                  <a:pt x="2412321" y="36281"/>
                </a:lnTo>
                <a:cubicBezTo>
                  <a:pt x="2439230" y="167780"/>
                  <a:pt x="2453361" y="303934"/>
                  <a:pt x="2453361" y="443388"/>
                </a:cubicBezTo>
                <a:cubicBezTo>
                  <a:pt x="2453361" y="1559021"/>
                  <a:pt x="1548962" y="2463420"/>
                  <a:pt x="433329" y="2463420"/>
                </a:cubicBezTo>
                <a:cubicBezTo>
                  <a:pt x="293875" y="2463420"/>
                  <a:pt x="157721" y="2449289"/>
                  <a:pt x="26222" y="2422380"/>
                </a:cubicBezTo>
                <a:lnTo>
                  <a:pt x="0" y="2415638"/>
                </a:lnTo>
                <a:lnTo>
                  <a:pt x="0" y="1588157"/>
                </a:lnTo>
                <a:lnTo>
                  <a:pt x="69019" y="1613419"/>
                </a:lnTo>
                <a:cubicBezTo>
                  <a:pt x="184105" y="1649214"/>
                  <a:pt x="306465" y="1668497"/>
                  <a:pt x="433329" y="1668497"/>
                </a:cubicBezTo>
                <a:cubicBezTo>
                  <a:pt x="1109938" y="1668497"/>
                  <a:pt x="1658438" y="1119997"/>
                  <a:pt x="1658438" y="443388"/>
                </a:cubicBezTo>
                <a:cubicBezTo>
                  <a:pt x="1658438" y="358812"/>
                  <a:pt x="1649868" y="276238"/>
                  <a:pt x="1633548" y="19648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3" name="Right Triangle 172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911225" y="-276595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-6214" y="-1"/>
            <a:chExt cx="12214827" cy="6858000"/>
          </a:xfrm>
        </p:grpSpPr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975A49-3350-E3DF-BB56-9597CE94A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725467"/>
            <a:ext cx="11201391" cy="22476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цьому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uk-UA" dirty="0"/>
              <a:t>.</a:t>
            </a:r>
            <a:endParaRPr lang="en-US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9A47BDE-0501-A7B7-26CB-F946A3084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4230" y="3264832"/>
            <a:ext cx="7978891" cy="300949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1800" kern="1200" dirty="0" err="1">
                <a:latin typeface="+mn-lt"/>
                <a:ea typeface="+mn-ea"/>
                <a:cs typeface="+mn-cs"/>
              </a:rPr>
              <a:t>Дякую</a:t>
            </a:r>
            <a:r>
              <a:rPr lang="en-US" sz="1800" kern="1200" dirty="0">
                <a:latin typeface="+mn-lt"/>
                <a:ea typeface="+mn-ea"/>
                <a:cs typeface="+mn-cs"/>
              </a:rPr>
              <a:t> </a:t>
            </a:r>
            <a:r>
              <a:rPr lang="en-US" sz="1800" kern="1200" dirty="0" err="1">
                <a:latin typeface="+mn-lt"/>
                <a:ea typeface="+mn-ea"/>
                <a:cs typeface="+mn-cs"/>
              </a:rPr>
              <a:t>за</a:t>
            </a:r>
            <a:r>
              <a:rPr lang="en-US" sz="1800" kern="1200" dirty="0">
                <a:latin typeface="+mn-lt"/>
                <a:ea typeface="+mn-ea"/>
                <a:cs typeface="+mn-cs"/>
              </a:rPr>
              <a:t> </a:t>
            </a:r>
            <a:r>
              <a:rPr lang="en-US" sz="1800" kern="1200" dirty="0" err="1">
                <a:latin typeface="+mn-lt"/>
                <a:ea typeface="+mn-ea"/>
                <a:cs typeface="+mn-cs"/>
              </a:rPr>
              <a:t>увагу</a:t>
            </a:r>
            <a:r>
              <a:rPr lang="uk-UA" sz="1800" kern="1200" dirty="0">
                <a:latin typeface="+mn-lt"/>
                <a:ea typeface="+mn-ea"/>
                <a:cs typeface="+mn-cs"/>
              </a:rPr>
              <a:t>!</a:t>
            </a:r>
            <a:endParaRPr lang="en-US" sz="1800" kern="12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7655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neVTI">
  <a:themeElements>
    <a:clrScheme name="Custom 51">
      <a:dk1>
        <a:sysClr val="windowText" lastClr="000000"/>
      </a:dk1>
      <a:lt1>
        <a:sysClr val="window" lastClr="FFFFFF"/>
      </a:lt1>
      <a:dk2>
        <a:srgbClr val="12154E"/>
      </a:dk2>
      <a:lt2>
        <a:srgbClr val="EEEEEE"/>
      </a:lt2>
      <a:accent1>
        <a:srgbClr val="FD8686"/>
      </a:accent1>
      <a:accent2>
        <a:srgbClr val="B495C2"/>
      </a:accent2>
      <a:accent3>
        <a:srgbClr val="8F99BB"/>
      </a:accent3>
      <a:accent4>
        <a:srgbClr val="A3A3C1"/>
      </a:accent4>
      <a:accent5>
        <a:srgbClr val="7162FE"/>
      </a:accent5>
      <a:accent6>
        <a:srgbClr val="1EBE9B"/>
      </a:accent6>
      <a:hlink>
        <a:srgbClr val="EF08F7"/>
      </a:hlink>
      <a:folHlink>
        <a:srgbClr val="8477FE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eVTI" id="{8435B2A2-1BD5-4C05-93E5-3C5388B709E3}" vid="{0D704B13-63FE-4848-A298-6B7359B9565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429</Words>
  <Application>Microsoft Office PowerPoint</Application>
  <PresentationFormat>Широкий екран</PresentationFormat>
  <Paragraphs>44</Paragraphs>
  <Slides>15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15</vt:i4>
      </vt:variant>
    </vt:vector>
  </HeadingPairs>
  <TitlesOfParts>
    <vt:vector size="19" baseType="lpstr">
      <vt:lpstr>Arial</vt:lpstr>
      <vt:lpstr>Avenir Next LT Pro</vt:lpstr>
      <vt:lpstr>Posterama</vt:lpstr>
      <vt:lpstr>SineVTI</vt:lpstr>
      <vt:lpstr>Оглядовий аналіз та візуалізація даних (EDA)</vt:lpstr>
      <vt:lpstr>Мета дослідження</vt:lpstr>
      <vt:lpstr>Опис датасету</vt:lpstr>
      <vt:lpstr>Вік</vt:lpstr>
      <vt:lpstr>Освіта</vt:lpstr>
      <vt:lpstr>Презентація PowerPoint</vt:lpstr>
      <vt:lpstr>Скільки відгукнулось</vt:lpstr>
      <vt:lpstr>Витрати на покупки</vt:lpstr>
      <vt:lpstr>Прибуток</vt:lpstr>
      <vt:lpstr>Днів з останньої покупки</vt:lpstr>
      <vt:lpstr>Освіта</vt:lpstr>
      <vt:lpstr>Кількість дітей в сім’ї</vt:lpstr>
      <vt:lpstr>Загальні витрати і прибуток</vt:lpstr>
      <vt:lpstr>Інсайти</vt:lpstr>
      <vt:lpstr>На цьому все.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Emisu _</dc:creator>
  <cp:lastModifiedBy>Emisu _</cp:lastModifiedBy>
  <cp:revision>1</cp:revision>
  <dcterms:created xsi:type="dcterms:W3CDTF">2025-11-03T17:03:34Z</dcterms:created>
  <dcterms:modified xsi:type="dcterms:W3CDTF">2025-11-03T19:50:05Z</dcterms:modified>
</cp:coreProperties>
</file>