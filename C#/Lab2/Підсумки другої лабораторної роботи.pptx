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60" r:id="rId4"/>
    <p:sldId id="258" r:id="rId5"/>
    <p:sldId id="268" r:id="rId6"/>
    <p:sldId id="259" r:id="rId7"/>
    <p:sldId id="261" r:id="rId8"/>
    <p:sldId id="262" r:id="rId9"/>
    <p:sldId id="263" r:id="rId10"/>
    <p:sldId id="264" r:id="rId11"/>
    <p:sldId id="265" r:id="rId12"/>
    <p:sldId id="266" r:id="rId13"/>
  </p:sldIdLst>
  <p:sldSz cx="12192000" cy="6858000"/>
  <p:notesSz cx="6858000" cy="9144000"/>
  <p:defaultTextStyle>
    <a:defPPr>
      <a:defRPr lang="uk-UA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75" d="100"/>
          <a:sy n="75" d="100"/>
        </p:scale>
        <p:origin x="91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45610A-17B4-4656-93CF-E1D9982860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0080" y="1371599"/>
            <a:ext cx="6675120" cy="2951825"/>
          </a:xfrm>
        </p:spPr>
        <p:txBody>
          <a:bodyPr anchor="t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451C80B-DFD6-415B-BA5B-E56E510CD12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0080" y="4584879"/>
            <a:ext cx="6675120" cy="1287887"/>
          </a:xfrm>
        </p:spPr>
        <p:txBody>
          <a:bodyPr anchor="b">
            <a:normAutofit/>
          </a:bodyPr>
          <a:lstStyle>
            <a:lvl1pPr marL="0" indent="0" algn="l">
              <a:lnSpc>
                <a:spcPct val="130000"/>
              </a:lnSpc>
              <a:buNone/>
              <a:defRPr sz="1800" b="1" cap="all" spc="300" baseline="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A2065B-06FF-4991-9F8A-4BE25457B4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44479B-705B-4489-957E-7E8A228BDFA0}" type="datetime1">
              <a:rPr lang="en-US" smtClean="0"/>
              <a:t>11/17/2025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0DF2FA-C604-45D8-A633-11D3742EC1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EE5DA9-2D04-4850-AB9F-BD35381650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‹№›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0349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08B246-6A68-46BE-9DBD-614FA8CF4E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E47706-8D18-4093-A7C1-F30D7543CE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C7C8FC-AAEA-4AB6-9DB5-2503F58F0E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89F774-3FA6-43B8-9241-99959C8FD463}" type="datetime1">
              <a:rPr lang="en-US" smtClean="0"/>
              <a:t>11/17/2025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B1616B-3F08-4869-A522-773C38940F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030CE6-9124-4B3A-A912-AE16B5C340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‹№›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39406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71BB59B6-79B9-97F5-AC3B-DF65899D39D8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6C78885-57B2-4930-BD7D-CBF916EDF1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291366"/>
            <a:ext cx="9214884" cy="3159974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BE495E4-2F8B-4CC7-88AC-A312067E60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40080" y="5018567"/>
            <a:ext cx="7907079" cy="1073889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585CC9-BAD3-4807-90BB-97DA2D6A6B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504452-5DCC-4FE2-A5C9-8A5EF6714D65}" type="datetime1">
              <a:rPr lang="en-US" smtClean="0"/>
              <a:t>11/17/2025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108CEF-165F-4D7E-9666-5CD0156B49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0EBC3D-3277-4D34-9F67-71040C21E3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‹№›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F05EAE5-4812-F718-6D75-9627884180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716281" y="4715234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489087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B477A4-4D01-45B6-9563-0BF13BA72F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E17E00-96AC-45F0-82B2-9F601E9B93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40080" y="2633472"/>
            <a:ext cx="5212080" cy="35661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2BA30CD-95C0-427B-A571-A7D8A53278F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18928" y="2633472"/>
            <a:ext cx="5212080" cy="35661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6F67CAC-53E4-44AF-BEAC-8FFB96F05A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79ABC2-0180-4F3A-A895-A85BC724D472}" type="datetime1">
              <a:rPr lang="en-US" smtClean="0"/>
              <a:t>11/17/2025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83D9F3A-E7F0-45E7-AFA8-0D4A669EC1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5F008B-58BB-45FF-923F-5909DAB49D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‹№›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68793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97B549-9E51-42E0-992A-73E7759577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1371599"/>
            <a:ext cx="10890929" cy="93975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1A5FDC-7C4B-45FB-8462-E2CE79919F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40079" y="2311352"/>
            <a:ext cx="5212080" cy="695373"/>
          </a:xfrm>
        </p:spPr>
        <p:txBody>
          <a:bodyPr anchor="b">
            <a:normAutofit/>
          </a:bodyPr>
          <a:lstStyle>
            <a:lvl1pPr marL="0" indent="0">
              <a:buNone/>
              <a:defRPr sz="1800" b="1" cap="all" spc="3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BD8B686-2E92-45B9-A3D7-9DCAA0C50B3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40079" y="3006725"/>
            <a:ext cx="5212080" cy="319125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6ADB526-4A44-47B6-8D14-93202E590AA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18928" y="2311352"/>
            <a:ext cx="5212080" cy="695373"/>
          </a:xfrm>
        </p:spPr>
        <p:txBody>
          <a:bodyPr anchor="b">
            <a:normAutofit/>
          </a:bodyPr>
          <a:lstStyle>
            <a:lvl1pPr marL="0" indent="0">
              <a:buNone/>
              <a:defRPr sz="1800" b="1" cap="all" spc="3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74177CA-5C13-4311-BFD3-B98FBD942DA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318928" y="3006725"/>
            <a:ext cx="5212080" cy="319125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DEA255A-4CB5-40CA-B756-1AA5E27C20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EEA9BA-4E8F-439E-BEA4-91FBA01E3F5F}" type="datetime1">
              <a:rPr lang="en-US" smtClean="0"/>
              <a:t>11/17/2025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F3072C4-10F1-49B8-B0BF-69204EDDCF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A5ACC97-44C1-4887-909B-E6732D3C1F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‹№›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74622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27D313-943A-47E0-8A7A-DFFBCC297A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3AC25A7-81C8-4AA1-AD9F-C78A451FDE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15BF18-0007-481C-AA29-413124BC3EE7}" type="datetime1">
              <a:rPr lang="en-US" smtClean="0"/>
              <a:t>11/17/2025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EF54740-6022-46B2-9C55-B60E965168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89497C9-6B5E-46D6-8FE9-0A5E0CF7F9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‹№›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87840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" name="Rectangle 4">
            <a:extLst>
              <a:ext uri="{FF2B5EF4-FFF2-40B4-BE49-F238E27FC236}">
                <a16:creationId xmlns:a16="http://schemas.microsoft.com/office/drawing/2014/main" id="{149F9F0F-FB8C-5565-247C-BDCC156B5CAF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2740D3C-270A-401A-810C-2F86BBBB87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E9870-3748-43AD-B547-02A075CB4A1D}" type="datetime1">
              <a:rPr lang="en-US" smtClean="0"/>
              <a:t>11/17/2025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DCBE9F8-1765-4F36-A4DE-1DB136025A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90CF9E-A6C6-4873-ADBE-7A2939319E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‹№›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69213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08CDF8-00AD-4441-A6D5-9D7A659EB6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371600"/>
            <a:ext cx="3859397" cy="1451723"/>
          </a:xfr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C330AF-CB7E-420A-AE8A-E02E903258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36519" y="1031001"/>
            <a:ext cx="6594490" cy="5166360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43257AD-2422-4CDA-9C55-700F4B5BF2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40080" y="2972168"/>
            <a:ext cx="3859397" cy="3226826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1B7454-C1CC-46F2-A6FB-1FE786C48F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E7897-33C5-4F1A-9307-D068E37F3DC7}" type="datetime1">
              <a:rPr lang="en-US" smtClean="0"/>
              <a:t>11/17/2025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077DBE-6CC7-421B-AB5E-341E20BD92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6EAB8F-7526-4CDB-B782-FAD8B3E70B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‹№›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60522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31647F-5A61-44C9-81DC-331C9AE5DD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371600"/>
            <a:ext cx="3859397" cy="1451723"/>
          </a:xfr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1627A0F-F1B8-49BE-A0FF-7FE16E3BDCC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937760" y="1033271"/>
            <a:ext cx="6592824" cy="516636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86D1BD6-1519-4431-9FAF-7D4F4129972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40080" y="2972167"/>
            <a:ext cx="3859397" cy="322682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A587A0-353B-42C2-BA96-B1ADEDF642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171BA-CC09-47C8-A6DF-F5C5CB59CEEC}" type="datetime1">
              <a:rPr lang="en-US" smtClean="0"/>
              <a:t>11/17/2025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D5A88E-3957-4B76-B1BE-4164029217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5F7C5FD-E56A-4C66-8F23-087F95A2F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‹№›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78358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5E4BB7-3F30-4C31-9BB2-8EC24FC0A1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ECF4134-70F5-4EE6-88BE-49D129630C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9EABC7-C044-44DE-B303-55A0581DA1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B66AD-7C08-490A-ADA4-B47E10FB2407}" type="datetime1">
              <a:rPr lang="en-US" smtClean="0"/>
              <a:t>11/17/2025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4A63E1-5BC5-402E-9916-BAB84BCF0B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2EF915-AF64-4ECC-8B1A-B7E6A89B79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‹№›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4765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31CB3635-47E1-90D8-B693-DA85A66B383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Vertical Title 1">
            <a:extLst>
              <a:ext uri="{FF2B5EF4-FFF2-40B4-BE49-F238E27FC236}">
                <a16:creationId xmlns:a16="http://schemas.microsoft.com/office/drawing/2014/main" id="{6EB09414-2AA1-4D8E-A00A-C092FBC92D9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209219" y="640079"/>
            <a:ext cx="1811773" cy="5536884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42C3A78-37C5-46D0-9DF4-CB78AF883C2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40080" y="640080"/>
            <a:ext cx="8412422" cy="553688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D8705E-925D-4F57-8268-107CE3CF4C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95027-4255-49E7-9841-CD21BCC99996}" type="datetime1">
              <a:rPr lang="en-US" smtClean="0"/>
              <a:t>11/17/2025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FE207E-070D-4EC8-A44C-21F1815FDA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5D01D1-C266-4161-A820-C084B98013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‹№›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230604F-219C-2DEE-830E-27274CC2FE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rot="5400000">
            <a:off x="10872154" y="1192438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606618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AB4E786-7636-4278-8595-D365D28A79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1371601"/>
            <a:ext cx="10890929" cy="109728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740849-7059-4C70-992B-5304D2EE9B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40080" y="2633472"/>
            <a:ext cx="10890928" cy="356616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9FEBF6-CEA6-4332-87B3-697807571C8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4008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b="1" cap="all" spc="300" baseline="0">
                <a:solidFill>
                  <a:schemeClr val="tx1"/>
                </a:solidFill>
              </a:defRPr>
            </a:lvl1pPr>
          </a:lstStyle>
          <a:p>
            <a:fld id="{7DA38F49-B3E2-4BF0-BEC7-C30D34ABBB8D}" type="datetime1">
              <a:rPr lang="en-US" smtClean="0"/>
              <a:t>11/17/2025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6BAF94-621C-43E1-BA0C-410A6899031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67622" y="6356350"/>
            <a:ext cx="40403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cap="all" spc="300" baseline="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7D19E5-9E16-48C9-AAE2-0C70679A8D7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807995" y="6356350"/>
            <a:ext cx="72301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cap="all" spc="300" baseline="0">
                <a:solidFill>
                  <a:schemeClr val="tx1"/>
                </a:solidFill>
              </a:defRPr>
            </a:lvl1pPr>
          </a:lstStyle>
          <a:p>
            <a:fld id="{70C12960-6E85-460F-B6E3-5B82CB31AF3D}" type="slidenum">
              <a:rPr lang="en-US" smtClean="0"/>
              <a:t>‹№›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18E06E4-607B-144B-382B-AD3D06B1EE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713232" y="1031001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169352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0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87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93776" indent="-22860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731520" indent="-22860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51560" indent="-28575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298448" indent="-22860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19F9BF86-FE94-4517-B97D-026C7515E5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Grandview Display"/>
              <a:ea typeface="+mn-ea"/>
              <a:cs typeface="+mn-cs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DB4B11F-DBF4-3AC1-33A7-3DDFC31001C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9688"/>
          <a:stretch>
            <a:fillRect/>
          </a:stretch>
        </p:blipFill>
        <p:spPr>
          <a:xfrm>
            <a:off x="1" y="10"/>
            <a:ext cx="12192000" cy="685799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36136311-C81B-47C5-AE0A-5641A5A595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94444" y="1066800"/>
            <a:ext cx="4682990" cy="4724400"/>
          </a:xfrm>
          <a:prstGeom prst="rect">
            <a:avLst/>
          </a:prstGeom>
          <a:solidFill>
            <a:schemeClr val="bg1">
              <a:alpha val="4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Grandview Display"/>
              <a:ea typeface="+mn-ea"/>
              <a:cs typeface="+mn-cs"/>
            </a:endParaRP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9E7E4E-2962-9FE8-CC56-AB2D0108DCE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04818" y="1562101"/>
            <a:ext cx="4183242" cy="2738530"/>
          </a:xfrm>
        </p:spPr>
        <p:txBody>
          <a:bodyPr anchor="t">
            <a:normAutofit/>
          </a:bodyPr>
          <a:lstStyle/>
          <a:p>
            <a:pPr>
              <a:lnSpc>
                <a:spcPct val="90000"/>
              </a:lnSpc>
            </a:pPr>
            <a:r>
              <a:rPr lang="uk-UA" sz="4800" dirty="0"/>
              <a:t>Моделювання бази даних координації подій</a:t>
            </a:r>
          </a:p>
        </p:txBody>
      </p:sp>
      <p:sp>
        <p:nvSpPr>
          <p:cNvPr id="3" name="Підзаголовок 2">
            <a:extLst>
              <a:ext uri="{FF2B5EF4-FFF2-40B4-BE49-F238E27FC236}">
                <a16:creationId xmlns:a16="http://schemas.microsoft.com/office/drawing/2014/main" id="{FD26D3CE-3D23-B475-70C8-141FE5AD1FA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04818" y="4321622"/>
            <a:ext cx="3816351" cy="941832"/>
          </a:xfrm>
        </p:spPr>
        <p:txBody>
          <a:bodyPr>
            <a:normAutofit/>
          </a:bodyPr>
          <a:lstStyle/>
          <a:p>
            <a:r>
              <a:rPr lang="uk-UA" dirty="0"/>
              <a:t>Виконував </a:t>
            </a:r>
            <a:r>
              <a:rPr lang="uk-UA" dirty="0" err="1"/>
              <a:t>Луцюк</a:t>
            </a:r>
            <a:r>
              <a:rPr lang="uk-UA" dirty="0"/>
              <a:t> Богдан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7CC73A33-65FF-41A9-A3B0-006753CD10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rot="10800000" flipV="1">
            <a:off x="305077" y="1063752"/>
            <a:ext cx="0" cy="4727448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8883953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6339221-B2C7-B4B9-DCC1-B4A2DD289A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 dirty="0"/>
              <a:t>Завдання</a:t>
            </a:r>
          </a:p>
        </p:txBody>
      </p:sp>
      <p:sp>
        <p:nvSpPr>
          <p:cNvPr id="3" name="Місце для вмісту 2">
            <a:extLst>
              <a:ext uri="{FF2B5EF4-FFF2-40B4-BE49-F238E27FC236}">
                <a16:creationId xmlns:a16="http://schemas.microsoft.com/office/drawing/2014/main" id="{43FDA557-36D5-D18E-7885-F854E144D8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uk-UA" dirty="0"/>
              <a:t>Мені попалась тема «Культурний центр міста». Замовником бази даних був координатор подій, який організовував фестивалі, квитки й учасників.</a:t>
            </a:r>
          </a:p>
          <a:p>
            <a:pPr marL="0" indent="0">
              <a:buNone/>
            </a:pPr>
            <a:r>
              <a:rPr lang="uk-UA" dirty="0"/>
              <a:t>Основними проблемами замовника були:</a:t>
            </a:r>
          </a:p>
          <a:p>
            <a:r>
              <a:rPr lang="uk-UA" dirty="0"/>
              <a:t>Відсутність єдиної бази даних.</a:t>
            </a:r>
            <a:endParaRPr lang="en-US" dirty="0"/>
          </a:p>
          <a:p>
            <a:r>
              <a:rPr lang="uk-UA" dirty="0"/>
              <a:t>Постійний хаос в роботі команди.</a:t>
            </a:r>
          </a:p>
          <a:p>
            <a:r>
              <a:rPr lang="uk-UA" dirty="0"/>
              <a:t>Неочікувані зміни в </a:t>
            </a:r>
            <a:r>
              <a:rPr lang="uk-UA" dirty="0" err="1"/>
              <a:t>райдерах</a:t>
            </a:r>
            <a:r>
              <a:rPr lang="uk-UA" dirty="0"/>
              <a:t> учасників.</a:t>
            </a:r>
          </a:p>
          <a:p>
            <a:r>
              <a:rPr lang="uk-UA" dirty="0"/>
              <a:t>Проблеми з партнерами, а саме узгодженням гучності та розміщенням зон.</a:t>
            </a:r>
          </a:p>
          <a:p>
            <a:endParaRPr lang="uk-UA" dirty="0"/>
          </a:p>
        </p:txBody>
      </p:sp>
    </p:spTree>
    <p:extLst>
      <p:ext uri="{BB962C8B-B14F-4D97-AF65-F5344CB8AC3E}">
        <p14:creationId xmlns:p14="http://schemas.microsoft.com/office/powerpoint/2010/main" val="227049812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BDA151C-5770-45E4-AAFF-59E7F40386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842A106-D2C1-BCAB-356B-97071A5237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914400"/>
            <a:ext cx="3794760" cy="4144684"/>
          </a:xfrm>
        </p:spPr>
        <p:txBody>
          <a:bodyPr anchor="t">
            <a:normAutofit/>
          </a:bodyPr>
          <a:lstStyle/>
          <a:p>
            <a:r>
              <a:rPr lang="uk-UA" dirty="0"/>
              <a:t>Аналіз предметної області</a:t>
            </a:r>
          </a:p>
        </p:txBody>
      </p:sp>
      <p:sp>
        <p:nvSpPr>
          <p:cNvPr id="3" name="Місце для вмісту 2">
            <a:extLst>
              <a:ext uri="{FF2B5EF4-FFF2-40B4-BE49-F238E27FC236}">
                <a16:creationId xmlns:a16="http://schemas.microsoft.com/office/drawing/2014/main" id="{C6D1C4A7-B95D-F464-36AC-87FE91D04C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48072" y="1051559"/>
            <a:ext cx="6382937" cy="5248656"/>
          </a:xfrm>
        </p:spPr>
        <p:txBody>
          <a:bodyPr anchor="t">
            <a:normAutofit/>
          </a:bodyPr>
          <a:lstStyle/>
          <a:p>
            <a:pPr>
              <a:lnSpc>
                <a:spcPct val="110000"/>
              </a:lnSpc>
            </a:pPr>
            <a:r>
              <a:rPr lang="en-GB" sz="1300" dirty="0"/>
              <a:t>Participants: *id, name, transport, </a:t>
            </a:r>
            <a:r>
              <a:rPr lang="en-GB" sz="1300" dirty="0" err="1"/>
              <a:t>arrives_at</a:t>
            </a:r>
            <a:r>
              <a:rPr lang="en-GB" sz="1300" dirty="0"/>
              <a:t>, </a:t>
            </a:r>
            <a:r>
              <a:rPr lang="en-GB" sz="1300" dirty="0" err="1"/>
              <a:t>hand_color</a:t>
            </a:r>
            <a:r>
              <a:rPr lang="en-GB" sz="1300" dirty="0"/>
              <a:t>, </a:t>
            </a:r>
            <a:r>
              <a:rPr lang="en-GB" sz="1300" dirty="0" err="1"/>
              <a:t>contact_number</a:t>
            </a:r>
            <a:r>
              <a:rPr lang="en-GB" sz="1300" dirty="0"/>
              <a:t>, notes.</a:t>
            </a:r>
          </a:p>
          <a:p>
            <a:pPr>
              <a:lnSpc>
                <a:spcPct val="110000"/>
              </a:lnSpc>
            </a:pPr>
            <a:r>
              <a:rPr lang="en-GB" sz="1300" dirty="0" err="1"/>
              <a:t>TeamMembers</a:t>
            </a:r>
            <a:r>
              <a:rPr lang="en-GB" sz="1300" dirty="0"/>
              <a:t>: *id, </a:t>
            </a:r>
            <a:r>
              <a:rPr lang="en-GB" sz="1300" dirty="0" err="1"/>
              <a:t>participant_id</a:t>
            </a:r>
            <a:r>
              <a:rPr lang="en-GB" sz="1300" dirty="0"/>
              <a:t>, name, role, </a:t>
            </a:r>
            <a:r>
              <a:rPr lang="en-GB" sz="1300" dirty="0" err="1"/>
              <a:t>contact_number</a:t>
            </a:r>
            <a:r>
              <a:rPr lang="en-GB" sz="1300" dirty="0"/>
              <a:t>.</a:t>
            </a:r>
          </a:p>
          <a:p>
            <a:pPr>
              <a:lnSpc>
                <a:spcPct val="110000"/>
              </a:lnSpc>
            </a:pPr>
            <a:r>
              <a:rPr lang="en-GB" sz="1300" dirty="0"/>
              <a:t>Accreditations: *id, </a:t>
            </a:r>
            <a:r>
              <a:rPr lang="en-GB" sz="1300" dirty="0" err="1"/>
              <a:t>team_member_id</a:t>
            </a:r>
            <a:r>
              <a:rPr lang="en-GB" sz="1300" dirty="0"/>
              <a:t>, </a:t>
            </a:r>
            <a:r>
              <a:rPr lang="en-GB" sz="1300" dirty="0" err="1"/>
              <a:t>valid_from</a:t>
            </a:r>
            <a:r>
              <a:rPr lang="en-GB" sz="1300" dirty="0"/>
              <a:t>, </a:t>
            </a:r>
            <a:r>
              <a:rPr lang="en-GB" sz="1300" dirty="0" err="1"/>
              <a:t>valid_to</a:t>
            </a:r>
            <a:r>
              <a:rPr lang="en-GB" sz="1300" dirty="0"/>
              <a:t>.</a:t>
            </a:r>
          </a:p>
          <a:p>
            <a:pPr>
              <a:lnSpc>
                <a:spcPct val="110000"/>
              </a:lnSpc>
            </a:pPr>
            <a:r>
              <a:rPr lang="en-GB" sz="1300" dirty="0"/>
              <a:t>Stages: *id, name, location, capacity.</a:t>
            </a:r>
          </a:p>
          <a:p>
            <a:pPr>
              <a:lnSpc>
                <a:spcPct val="110000"/>
              </a:lnSpc>
            </a:pPr>
            <a:r>
              <a:rPr lang="en-GB" sz="1300" dirty="0"/>
              <a:t>Performances: *id, </a:t>
            </a:r>
            <a:r>
              <a:rPr lang="en-GB" sz="1300" dirty="0" err="1"/>
              <a:t>participant_id</a:t>
            </a:r>
            <a:r>
              <a:rPr lang="en-GB" sz="1300" dirty="0"/>
              <a:t>, </a:t>
            </a:r>
            <a:r>
              <a:rPr lang="en-GB" sz="1300" dirty="0" err="1"/>
              <a:t>stage_id</a:t>
            </a:r>
            <a:r>
              <a:rPr lang="en-GB" sz="1300" dirty="0"/>
              <a:t>, </a:t>
            </a:r>
            <a:r>
              <a:rPr lang="en-GB" sz="1300" dirty="0" err="1"/>
              <a:t>starts_at</a:t>
            </a:r>
            <a:r>
              <a:rPr lang="en-GB" sz="1300" dirty="0"/>
              <a:t>, </a:t>
            </a:r>
            <a:r>
              <a:rPr lang="en-GB" sz="1300" dirty="0" err="1"/>
              <a:t>ends_at</a:t>
            </a:r>
            <a:r>
              <a:rPr lang="en-GB" sz="1300" dirty="0"/>
              <a:t>.</a:t>
            </a:r>
          </a:p>
          <a:p>
            <a:pPr>
              <a:lnSpc>
                <a:spcPct val="110000"/>
              </a:lnSpc>
            </a:pPr>
            <a:r>
              <a:rPr lang="en-GB" sz="1300" dirty="0" err="1"/>
              <a:t>TechnicalBreaks</a:t>
            </a:r>
            <a:r>
              <a:rPr lang="en-GB" sz="1300" dirty="0"/>
              <a:t>: *id, </a:t>
            </a:r>
            <a:r>
              <a:rPr lang="en-GB" sz="1300" dirty="0" err="1"/>
              <a:t>stage_id</a:t>
            </a:r>
            <a:r>
              <a:rPr lang="en-GB" sz="1300" dirty="0"/>
              <a:t>, </a:t>
            </a:r>
            <a:r>
              <a:rPr lang="en-GB" sz="1300" dirty="0" err="1"/>
              <a:t>starts_at</a:t>
            </a:r>
            <a:r>
              <a:rPr lang="en-GB" sz="1300" dirty="0"/>
              <a:t>, </a:t>
            </a:r>
            <a:r>
              <a:rPr lang="en-GB" sz="1300" dirty="0" err="1"/>
              <a:t>ends_at</a:t>
            </a:r>
            <a:r>
              <a:rPr lang="en-GB" sz="1300" dirty="0"/>
              <a:t>, notes.</a:t>
            </a:r>
          </a:p>
          <a:p>
            <a:pPr>
              <a:lnSpc>
                <a:spcPct val="110000"/>
              </a:lnSpc>
            </a:pPr>
            <a:r>
              <a:rPr lang="en-GB" sz="1300" dirty="0"/>
              <a:t>Volunteers: *id, name, </a:t>
            </a:r>
            <a:r>
              <a:rPr lang="en-GB" sz="1300" dirty="0" err="1"/>
              <a:t>contact_number</a:t>
            </a:r>
            <a:r>
              <a:rPr lang="en-GB" sz="1300" dirty="0"/>
              <a:t>, role.</a:t>
            </a:r>
          </a:p>
          <a:p>
            <a:pPr>
              <a:lnSpc>
                <a:spcPct val="110000"/>
              </a:lnSpc>
            </a:pPr>
            <a:r>
              <a:rPr lang="en-GB" sz="1300" dirty="0" err="1"/>
              <a:t>VolunteerShifts</a:t>
            </a:r>
            <a:r>
              <a:rPr lang="en-GB" sz="1300" dirty="0"/>
              <a:t>: *id, </a:t>
            </a:r>
            <a:r>
              <a:rPr lang="en-GB" sz="1300" dirty="0" err="1"/>
              <a:t>volunteer_id</a:t>
            </a:r>
            <a:r>
              <a:rPr lang="en-GB" sz="1300" dirty="0"/>
              <a:t>, </a:t>
            </a:r>
            <a:r>
              <a:rPr lang="en-GB" sz="1300" dirty="0" err="1"/>
              <a:t>zone_id</a:t>
            </a:r>
            <a:r>
              <a:rPr lang="en-GB" sz="1300" dirty="0"/>
              <a:t>, </a:t>
            </a:r>
            <a:r>
              <a:rPr lang="en-GB" sz="1300" dirty="0" err="1"/>
              <a:t>starts_at</a:t>
            </a:r>
            <a:r>
              <a:rPr lang="en-GB" sz="1300" dirty="0"/>
              <a:t>, </a:t>
            </a:r>
            <a:r>
              <a:rPr lang="en-GB" sz="1300" dirty="0" err="1"/>
              <a:t>ends_at</a:t>
            </a:r>
            <a:r>
              <a:rPr lang="en-GB" sz="1300" dirty="0"/>
              <a:t>.</a:t>
            </a:r>
          </a:p>
          <a:p>
            <a:pPr>
              <a:lnSpc>
                <a:spcPct val="110000"/>
              </a:lnSpc>
            </a:pPr>
            <a:r>
              <a:rPr lang="en-GB" sz="1300" dirty="0"/>
              <a:t>Partners: *id, name, </a:t>
            </a:r>
            <a:r>
              <a:rPr lang="en-GB" sz="1300" dirty="0" err="1"/>
              <a:t>contact_number</a:t>
            </a:r>
            <a:r>
              <a:rPr lang="en-GB" sz="1300" dirty="0"/>
              <a:t>.</a:t>
            </a:r>
          </a:p>
          <a:p>
            <a:pPr>
              <a:lnSpc>
                <a:spcPct val="110000"/>
              </a:lnSpc>
            </a:pPr>
            <a:r>
              <a:rPr lang="en-GB" sz="1300" dirty="0"/>
              <a:t>Zones: *id, name, type, location.</a:t>
            </a:r>
            <a:endParaRPr lang="uk-UA" sz="1300" dirty="0"/>
          </a:p>
          <a:p>
            <a:pPr>
              <a:lnSpc>
                <a:spcPct val="110000"/>
              </a:lnSpc>
            </a:pPr>
            <a:r>
              <a:rPr lang="en-GB" sz="1300" dirty="0" err="1"/>
              <a:t>ActivationZones</a:t>
            </a:r>
            <a:r>
              <a:rPr lang="en-GB" sz="1300" dirty="0"/>
              <a:t>: *id, </a:t>
            </a:r>
            <a:r>
              <a:rPr lang="en-GB" sz="1300" dirty="0" err="1"/>
              <a:t>partner_id</a:t>
            </a:r>
            <a:r>
              <a:rPr lang="en-GB" sz="1300" dirty="0"/>
              <a:t>, </a:t>
            </a:r>
            <a:r>
              <a:rPr lang="en-GB" sz="1300" dirty="0" err="1"/>
              <a:t>zone_id</a:t>
            </a:r>
            <a:r>
              <a:rPr lang="en-GB" sz="1300" dirty="0"/>
              <a:t>, </a:t>
            </a:r>
            <a:r>
              <a:rPr lang="en-GB" sz="1300" dirty="0" err="1"/>
              <a:t>required_power</a:t>
            </a:r>
            <a:r>
              <a:rPr lang="en-GB" sz="1300" dirty="0"/>
              <a:t>, notes.</a:t>
            </a:r>
          </a:p>
          <a:p>
            <a:pPr>
              <a:lnSpc>
                <a:spcPct val="110000"/>
              </a:lnSpc>
            </a:pPr>
            <a:r>
              <a:rPr lang="en-GB" sz="1300" dirty="0" err="1"/>
              <a:t>LogisticItems</a:t>
            </a:r>
            <a:r>
              <a:rPr lang="en-GB" sz="1300" dirty="0"/>
              <a:t>: *id, </a:t>
            </a:r>
            <a:r>
              <a:rPr lang="en-GB" sz="1300" dirty="0" err="1"/>
              <a:t>zone_id</a:t>
            </a:r>
            <a:r>
              <a:rPr lang="en-GB" sz="1300" dirty="0"/>
              <a:t>, name, quantity.</a:t>
            </a:r>
          </a:p>
          <a:p>
            <a:pPr>
              <a:lnSpc>
                <a:spcPct val="110000"/>
              </a:lnSpc>
            </a:pPr>
            <a:r>
              <a:rPr lang="en-GB" sz="1300" dirty="0"/>
              <a:t>Tickets: *id, </a:t>
            </a:r>
            <a:r>
              <a:rPr lang="en-GB" sz="1300" dirty="0" err="1"/>
              <a:t>qr_code</a:t>
            </a:r>
            <a:r>
              <a:rPr lang="en-GB" sz="1300" dirty="0"/>
              <a:t>, type, </a:t>
            </a:r>
            <a:r>
              <a:rPr lang="en-GB" sz="1300" dirty="0" err="1"/>
              <a:t>buyer_name</a:t>
            </a:r>
            <a:r>
              <a:rPr lang="en-GB" sz="1300" dirty="0"/>
              <a:t>, </a:t>
            </a:r>
            <a:r>
              <a:rPr lang="en-GB" sz="1300" dirty="0" err="1"/>
              <a:t>contact_number</a:t>
            </a:r>
            <a:r>
              <a:rPr lang="en-GB" sz="1300" dirty="0"/>
              <a:t>, </a:t>
            </a:r>
            <a:r>
              <a:rPr lang="en-GB" sz="1300" dirty="0" err="1"/>
              <a:t>entrance_date</a:t>
            </a:r>
            <a:r>
              <a:rPr lang="en-GB" sz="1300" dirty="0"/>
              <a:t>, status.</a:t>
            </a:r>
          </a:p>
          <a:p>
            <a:pPr>
              <a:lnSpc>
                <a:spcPct val="110000"/>
              </a:lnSpc>
            </a:pPr>
            <a:r>
              <a:rPr lang="en-GB" sz="1300" dirty="0"/>
              <a:t>Incidents: *id, </a:t>
            </a:r>
            <a:r>
              <a:rPr lang="en-GB" sz="1300" dirty="0" err="1"/>
              <a:t>zone_id</a:t>
            </a:r>
            <a:r>
              <a:rPr lang="en-GB" sz="1300" dirty="0"/>
              <a:t>, </a:t>
            </a:r>
            <a:r>
              <a:rPr lang="en-GB" sz="1300" dirty="0" err="1"/>
              <a:t>ticket_id</a:t>
            </a:r>
            <a:r>
              <a:rPr lang="en-GB" sz="1300" dirty="0"/>
              <a:t>, type, description, </a:t>
            </a:r>
            <a:r>
              <a:rPr lang="en-GB" sz="1300" dirty="0" err="1"/>
              <a:t>happened_at</a:t>
            </a:r>
            <a:r>
              <a:rPr lang="en-GB" sz="1300" dirty="0"/>
              <a:t>.</a:t>
            </a:r>
          </a:p>
          <a:p>
            <a:pPr>
              <a:lnSpc>
                <a:spcPct val="110000"/>
              </a:lnSpc>
            </a:pPr>
            <a:r>
              <a:rPr lang="en-GB" sz="1300" dirty="0" err="1"/>
              <a:t>DailyReports</a:t>
            </a:r>
            <a:r>
              <a:rPr lang="en-GB" sz="1300" dirty="0"/>
              <a:t>: *id, date, summary, contents.</a:t>
            </a:r>
          </a:p>
          <a:p>
            <a:pPr>
              <a:lnSpc>
                <a:spcPct val="110000"/>
              </a:lnSpc>
            </a:pPr>
            <a:endParaRPr lang="uk-UA" sz="1300" dirty="0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0694E1F-471C-4340-BE4B-28F2BF7D7A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13232" y="6272784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763175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" name="Straight Connector 9">
            <a:extLst>
              <a:ext uri="{FF2B5EF4-FFF2-40B4-BE49-F238E27FC236}">
                <a16:creationId xmlns:a16="http://schemas.microsoft.com/office/drawing/2014/main" id="{118E06E4-607B-144B-382B-AD3D06B1EE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13232" y="1031001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7" name="Rectangle 11">
            <a:extLst>
              <a:ext uri="{FF2B5EF4-FFF2-40B4-BE49-F238E27FC236}">
                <a16:creationId xmlns:a16="http://schemas.microsoft.com/office/drawing/2014/main" id="{19F9BF86-FE94-4517-B97D-026C7515E5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AA9D172-B9DE-FD0C-B6DC-5A0A19E2D8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434438"/>
            <a:ext cx="2983229" cy="261297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4400"/>
              <a:t>Схема бази даних</a:t>
            </a:r>
          </a:p>
        </p:txBody>
      </p:sp>
      <p:pic>
        <p:nvPicPr>
          <p:cNvPr id="5" name="Місце для вмісту 4">
            <a:extLst>
              <a:ext uri="{FF2B5EF4-FFF2-40B4-BE49-F238E27FC236}">
                <a16:creationId xmlns:a16="http://schemas.microsoft.com/office/drawing/2014/main" id="{8F00DE0D-A0C0-7670-6577-3C36717C9BD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66380" y="739118"/>
            <a:ext cx="8512388" cy="5149999"/>
          </a:xfrm>
          <a:prstGeom prst="rect">
            <a:avLst/>
          </a:prstGeom>
        </p:spPr>
      </p:pic>
      <p:cxnSp>
        <p:nvCxnSpPr>
          <p:cNvPr id="18" name="Straight Connector 13">
            <a:extLst>
              <a:ext uri="{FF2B5EF4-FFF2-40B4-BE49-F238E27FC236}">
                <a16:creationId xmlns:a16="http://schemas.microsoft.com/office/drawing/2014/main" id="{426B4E86-32C4-273A-1ADF-6B44243549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672253" y="6272784"/>
            <a:ext cx="10847495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733233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744CAA32-F237-419C-A2DD-43C28D920D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20BA75A-965C-1B85-CE91-1C687990EF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371600"/>
            <a:ext cx="5737859" cy="1097280"/>
          </a:xfrm>
        </p:spPr>
        <p:txBody>
          <a:bodyPr>
            <a:normAutofit/>
          </a:bodyPr>
          <a:lstStyle/>
          <a:p>
            <a:r>
              <a:rPr lang="uk-UA"/>
              <a:t>Міграції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753FE100-D0AB-4AE2-824B-60CFA31EC6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13232" y="1031001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Місце для вмісту 2">
            <a:extLst>
              <a:ext uri="{FF2B5EF4-FFF2-40B4-BE49-F238E27FC236}">
                <a16:creationId xmlns:a16="http://schemas.microsoft.com/office/drawing/2014/main" id="{6FD743F6-D779-7D39-AD76-B43C4680DC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80" y="2633236"/>
            <a:ext cx="4775200" cy="366698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uk-UA" dirty="0"/>
              <a:t>Під кожну сутність було створено окрему міграцію.</a:t>
            </a:r>
          </a:p>
          <a:p>
            <a:pPr marL="0" indent="0">
              <a:buNone/>
            </a:pPr>
            <a:endParaRPr lang="uk-UA" dirty="0"/>
          </a:p>
        </p:txBody>
      </p:sp>
      <p:pic>
        <p:nvPicPr>
          <p:cNvPr id="7" name="Рисунок 6" descr="Зображення, що містить текст, знімок екрана, програмне забезпечення, Мультимедійне програмне забезпечення&#10;&#10;Вміст на основі ШІ може бути неправильним.">
            <a:extLst>
              <a:ext uri="{FF2B5EF4-FFF2-40B4-BE49-F238E27FC236}">
                <a16:creationId xmlns:a16="http://schemas.microsoft.com/office/drawing/2014/main" id="{83993444-BDDD-504C-95E3-4824CDF97B1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85547" y="1524000"/>
            <a:ext cx="5545462" cy="47762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969703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BDA151C-5770-45E4-AAFF-59E7F40386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BD57CDB-2663-8D65-40F3-4A01DDDFFD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570750"/>
            <a:ext cx="10890929" cy="1387934"/>
          </a:xfrm>
        </p:spPr>
        <p:txBody>
          <a:bodyPr anchor="b">
            <a:normAutofit/>
          </a:bodyPr>
          <a:lstStyle/>
          <a:p>
            <a:r>
              <a:rPr lang="en-US" dirty="0"/>
              <a:t>LINQ </a:t>
            </a:r>
            <a:r>
              <a:rPr lang="uk-UA" dirty="0"/>
              <a:t>запити</a:t>
            </a:r>
          </a:p>
        </p:txBody>
      </p:sp>
      <p:sp>
        <p:nvSpPr>
          <p:cNvPr id="3" name="Місце для вмісту 2">
            <a:extLst>
              <a:ext uri="{FF2B5EF4-FFF2-40B4-BE49-F238E27FC236}">
                <a16:creationId xmlns:a16="http://schemas.microsoft.com/office/drawing/2014/main" id="{919310A3-0A6D-DA1D-CAD1-7F0DD2E7FB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80" y="2761673"/>
            <a:ext cx="10890929" cy="353624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uk-UA" dirty="0"/>
              <a:t>Я написав 5 </a:t>
            </a:r>
            <a:r>
              <a:rPr lang="en-US" dirty="0"/>
              <a:t>LINQ </a:t>
            </a:r>
            <a:r>
              <a:rPr lang="uk-UA" dirty="0"/>
              <a:t>запитів з використанням методів:</a:t>
            </a:r>
          </a:p>
          <a:p>
            <a:r>
              <a:rPr lang="en-US" dirty="0"/>
              <a:t>Where</a:t>
            </a:r>
          </a:p>
          <a:p>
            <a:r>
              <a:rPr lang="en-US" dirty="0" err="1"/>
              <a:t>FirstOrDefault</a:t>
            </a:r>
            <a:endParaRPr lang="en-US" dirty="0"/>
          </a:p>
          <a:p>
            <a:r>
              <a:rPr lang="en-US" dirty="0"/>
              <a:t>Include</a:t>
            </a:r>
          </a:p>
          <a:p>
            <a:r>
              <a:rPr lang="en-US" dirty="0" err="1"/>
              <a:t>OrderBy</a:t>
            </a:r>
            <a:endParaRPr lang="en-US" dirty="0"/>
          </a:p>
          <a:p>
            <a:r>
              <a:rPr lang="en-US" dirty="0"/>
              <a:t>Average</a:t>
            </a:r>
            <a:endParaRPr lang="uk-UA" dirty="0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62D3963-2153-4637-96E6-E31BD2CE5D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13232" y="2307479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377523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170E4A3-9181-C26F-4E1B-1EE9F7B416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Where</a:t>
            </a:r>
            <a:endParaRPr lang="uk-UA" dirty="0"/>
          </a:p>
        </p:txBody>
      </p:sp>
      <p:pic>
        <p:nvPicPr>
          <p:cNvPr id="5" name="Місце для вмісту 4">
            <a:extLst>
              <a:ext uri="{FF2B5EF4-FFF2-40B4-BE49-F238E27FC236}">
                <a16:creationId xmlns:a16="http://schemas.microsoft.com/office/drawing/2014/main" id="{4FC8F3AF-7B84-C0C8-413A-F9BE555C96B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50081" y="2532608"/>
            <a:ext cx="10891837" cy="1792783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CAA26E73-B609-B522-A05A-FFBE39BCAF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081" y="4743449"/>
            <a:ext cx="6257925" cy="742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136186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0196FFD-4DA2-D5A9-A4BB-0BD7D35B46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FirstOrDefault</a:t>
            </a:r>
            <a:endParaRPr lang="uk-UA" dirty="0"/>
          </a:p>
        </p:txBody>
      </p:sp>
      <p:pic>
        <p:nvPicPr>
          <p:cNvPr id="5" name="Місце для вмісту 4">
            <a:extLst>
              <a:ext uri="{FF2B5EF4-FFF2-40B4-BE49-F238E27FC236}">
                <a16:creationId xmlns:a16="http://schemas.microsoft.com/office/drawing/2014/main" id="{CD4A83A2-B56D-7701-7E49-BF12029C911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40078" y="2225040"/>
            <a:ext cx="10708641" cy="1944788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52F83040-F2DC-6B51-7420-20D019B08C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78" y="4500562"/>
            <a:ext cx="4565275" cy="7318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024788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26A207B-4654-58A8-5626-ED999DC7CF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Include</a:t>
            </a:r>
            <a:endParaRPr lang="uk-UA" dirty="0"/>
          </a:p>
        </p:txBody>
      </p:sp>
      <p:pic>
        <p:nvPicPr>
          <p:cNvPr id="5" name="Місце для вмісту 4">
            <a:extLst>
              <a:ext uri="{FF2B5EF4-FFF2-40B4-BE49-F238E27FC236}">
                <a16:creationId xmlns:a16="http://schemas.microsoft.com/office/drawing/2014/main" id="{2FCD667A-FDE4-B7BF-835D-2D596517E1B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60992" y="2302192"/>
            <a:ext cx="10642344" cy="2086928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FE09B53B-CC5F-462A-08BF-1F3A049A42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992" y="4648200"/>
            <a:ext cx="5867400" cy="1828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362524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6667196-ADD5-7C6F-2518-71CC91567A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OrderBy</a:t>
            </a:r>
            <a:endParaRPr lang="uk-UA" dirty="0"/>
          </a:p>
        </p:txBody>
      </p:sp>
      <p:pic>
        <p:nvPicPr>
          <p:cNvPr id="5" name="Місце для вмісту 4">
            <a:extLst>
              <a:ext uri="{FF2B5EF4-FFF2-40B4-BE49-F238E27FC236}">
                <a16:creationId xmlns:a16="http://schemas.microsoft.com/office/drawing/2014/main" id="{084D61EC-E49A-40FA-2368-4AAA71F6030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39171" y="2464560"/>
            <a:ext cx="10891837" cy="1924560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E2643D08-D5BA-3F56-CAEA-1285EFB960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171" y="4705985"/>
            <a:ext cx="6648450" cy="17335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133813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41EFB0E-934F-682E-8F62-DCB923DF3E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Average	</a:t>
            </a:r>
            <a:endParaRPr lang="uk-UA" dirty="0"/>
          </a:p>
        </p:txBody>
      </p:sp>
      <p:pic>
        <p:nvPicPr>
          <p:cNvPr id="5" name="Місце для вмісту 4">
            <a:extLst>
              <a:ext uri="{FF2B5EF4-FFF2-40B4-BE49-F238E27FC236}">
                <a16:creationId xmlns:a16="http://schemas.microsoft.com/office/drawing/2014/main" id="{0512A9D5-0EBE-EFFB-CABE-74D8DA36B0B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60992" y="2468881"/>
            <a:ext cx="9510670" cy="1523999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A3FA167F-3FBC-114D-C70D-5E5E5080CB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79" y="4333875"/>
            <a:ext cx="5730241" cy="7609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981740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118E06E4-607B-144B-382B-AD3D06B1EE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13232" y="1031001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19F9BF86-FE94-4517-B97D-026C7515E5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1326867-DC81-7AD6-EACC-6654F3A4EC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1473198"/>
            <a:ext cx="7414029" cy="2696866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6600"/>
              <a:t>Дякую за увагу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9B9E2C38-33D2-1944-B9C2-8965AFC61E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80869" y="4733523"/>
            <a:ext cx="731520" cy="0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89078795"/>
      </p:ext>
    </p:extLst>
  </p:cSld>
  <p:clrMapOvr>
    <a:masterClrMapping/>
  </p:clrMapOvr>
</p:sld>
</file>

<file path=ppt/theme/theme1.xml><?xml version="1.0" encoding="utf-8"?>
<a:theme xmlns:a="http://schemas.openxmlformats.org/drawingml/2006/main" name="DashVTI">
  <a:themeElements>
    <a:clrScheme name="Custom 6">
      <a:dk1>
        <a:sysClr val="windowText" lastClr="000000"/>
      </a:dk1>
      <a:lt1>
        <a:sysClr val="window" lastClr="FFFFFF"/>
      </a:lt1>
      <a:dk2>
        <a:srgbClr val="0D1C3B"/>
      </a:dk2>
      <a:lt2>
        <a:srgbClr val="F5F2F9"/>
      </a:lt2>
      <a:accent1>
        <a:srgbClr val="1973EB"/>
      </a:accent1>
      <a:accent2>
        <a:srgbClr val="25C8A2"/>
      </a:accent2>
      <a:accent3>
        <a:srgbClr val="BF8ED1"/>
      </a:accent3>
      <a:accent4>
        <a:srgbClr val="FE733C"/>
      </a:accent4>
      <a:accent5>
        <a:srgbClr val="FE5A5A"/>
      </a:accent5>
      <a:accent6>
        <a:srgbClr val="1AC16E"/>
      </a:accent6>
      <a:hlink>
        <a:srgbClr val="1AC16E"/>
      </a:hlink>
      <a:folHlink>
        <a:srgbClr val="00B0F0"/>
      </a:folHlink>
    </a:clrScheme>
    <a:fontScheme name="grandview display">
      <a:majorFont>
        <a:latin typeface="Grandview Display"/>
        <a:ea typeface=""/>
        <a:cs typeface=""/>
      </a:majorFont>
      <a:minorFont>
        <a:latin typeface="Grandview Display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ashVTI" id="{0A75137F-CDEB-4E94-A788-9D255EBE1B91}" vid="{DE9A6A09-5855-45A3-8E99-4290ED24057C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38</TotalTime>
  <Words>361</Words>
  <Application>Microsoft Office PowerPoint</Application>
  <PresentationFormat>Широкий екран</PresentationFormat>
  <Paragraphs>41</Paragraphs>
  <Slides>12</Slides>
  <Notes>0</Notes>
  <HiddenSlides>0</HiddenSlides>
  <MMClips>0</MMClips>
  <ScaleCrop>false</ScaleCrop>
  <HeadingPairs>
    <vt:vector size="6" baseType="variant">
      <vt:variant>
        <vt:lpstr>Використані шрифти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слайдів</vt:lpstr>
      </vt:variant>
      <vt:variant>
        <vt:i4>12</vt:i4>
      </vt:variant>
    </vt:vector>
  </HeadingPairs>
  <TitlesOfParts>
    <vt:vector size="15" baseType="lpstr">
      <vt:lpstr>Arial</vt:lpstr>
      <vt:lpstr>Grandview Display</vt:lpstr>
      <vt:lpstr>DashVTI</vt:lpstr>
      <vt:lpstr>Моделювання бази даних координації подій</vt:lpstr>
      <vt:lpstr>Завдання</vt:lpstr>
      <vt:lpstr>Аналіз предметної області</vt:lpstr>
      <vt:lpstr>Схема бази даних</vt:lpstr>
      <vt:lpstr>Міграції</vt:lpstr>
      <vt:lpstr>LINQ запити</vt:lpstr>
      <vt:lpstr>Where</vt:lpstr>
      <vt:lpstr>FirstOrDefault</vt:lpstr>
      <vt:lpstr>Include</vt:lpstr>
      <vt:lpstr>OrderBy</vt:lpstr>
      <vt:lpstr>Average </vt:lpstr>
      <vt:lpstr>Дякую за увагу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Emisu _</dc:creator>
  <cp:lastModifiedBy>Emisu _</cp:lastModifiedBy>
  <cp:revision>5</cp:revision>
  <dcterms:created xsi:type="dcterms:W3CDTF">2025-11-17T01:04:59Z</dcterms:created>
  <dcterms:modified xsi:type="dcterms:W3CDTF">2025-11-17T10:42:00Z</dcterms:modified>
</cp:coreProperties>
</file>