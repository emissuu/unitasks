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0" r:id="rId4"/>
    <p:sldId id="258" r:id="rId5"/>
    <p:sldId id="268" r:id="rId6"/>
    <p:sldId id="259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7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34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940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‹№›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8908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879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462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784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921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052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835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76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‹№›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0661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‹№›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6935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B4B11F-DBF4-3AC1-33A7-3DDFC31001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688"/>
          <a:stretch>
            <a:fillRect/>
          </a:stretch>
        </p:blipFill>
        <p:spPr>
          <a:xfrm>
            <a:off x="1" y="10"/>
            <a:ext cx="1219200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6136311-C81B-47C5-AE0A-5641A5A595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4444" y="1066800"/>
            <a:ext cx="4682990" cy="4724400"/>
          </a:xfrm>
          <a:prstGeom prst="rect">
            <a:avLst/>
          </a:prstGeom>
          <a:solidFill>
            <a:schemeClr val="bg1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9E7E4E-2962-9FE8-CC56-AB2D0108DC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818" y="1562101"/>
            <a:ext cx="4183242" cy="273853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uk-UA" sz="4800" dirty="0"/>
              <a:t>Моделювання бази даних координації подій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FD26D3CE-3D23-B475-70C8-141FE5AD1F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818" y="4321622"/>
            <a:ext cx="3816351" cy="941832"/>
          </a:xfrm>
        </p:spPr>
        <p:txBody>
          <a:bodyPr>
            <a:normAutofit/>
          </a:bodyPr>
          <a:lstStyle/>
          <a:p>
            <a:r>
              <a:rPr lang="uk-UA" dirty="0"/>
              <a:t>Виконував </a:t>
            </a:r>
            <a:r>
              <a:rPr lang="uk-UA" dirty="0" err="1"/>
              <a:t>Луцюк</a:t>
            </a:r>
            <a:r>
              <a:rPr lang="uk-UA" dirty="0"/>
              <a:t> Богдан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CC73A33-65FF-41A9-A3B0-006753CD10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10800000" flipV="1">
            <a:off x="305077" y="1063752"/>
            <a:ext cx="0" cy="4727448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88395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339221-B2C7-B4B9-DCC1-B4A2DD289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Завдання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3FDA557-36D5-D18E-7885-F854E144D8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uk-UA" dirty="0"/>
              <a:t>Мені попалась тема «Культурний центр міста». Замовником бази даних був координатор подій, який організовував фестивалі, квитки й </a:t>
            </a:r>
            <a:r>
              <a:rPr lang="uk-UA"/>
              <a:t>учасників.</a:t>
            </a:r>
            <a:endParaRPr lang="uk-UA" dirty="0"/>
          </a:p>
          <a:p>
            <a:pPr marL="0" indent="0">
              <a:buNone/>
            </a:pPr>
            <a:r>
              <a:rPr lang="uk-UA" dirty="0"/>
              <a:t>Основними проблемами замовника були:</a:t>
            </a:r>
          </a:p>
          <a:p>
            <a:r>
              <a:rPr lang="uk-UA" dirty="0"/>
              <a:t>Відсутність єдиної бази даних.</a:t>
            </a:r>
            <a:endParaRPr lang="en-US" dirty="0"/>
          </a:p>
          <a:p>
            <a:r>
              <a:rPr lang="uk-UA" dirty="0"/>
              <a:t>Постійний хаос в роботі команди.</a:t>
            </a:r>
          </a:p>
          <a:p>
            <a:r>
              <a:rPr lang="uk-UA" dirty="0"/>
              <a:t>Проблеми з партнерами, а саме узгодженням гучності та розміщенням зон.</a:t>
            </a:r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270498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42A106-D2C1-BCAB-356B-97071A523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uk-UA" dirty="0"/>
              <a:t>Аналіз предметної області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6D1C4A7-B95D-F464-36AC-87FE91D04C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8191" y="762001"/>
            <a:ext cx="6623729" cy="5812534"/>
          </a:xfrm>
        </p:spPr>
        <p:txBody>
          <a:bodyPr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GB" sz="1400" dirty="0"/>
              <a:t>Participants: *id, name, transport, </a:t>
            </a:r>
            <a:r>
              <a:rPr lang="en-GB" sz="1400" dirty="0" err="1"/>
              <a:t>arrives_at</a:t>
            </a:r>
            <a:r>
              <a:rPr lang="en-GB" sz="1400" dirty="0"/>
              <a:t>, </a:t>
            </a:r>
            <a:r>
              <a:rPr lang="en-GB" sz="1400" dirty="0" err="1"/>
              <a:t>hand_color</a:t>
            </a:r>
            <a:r>
              <a:rPr lang="en-GB" sz="1400" dirty="0"/>
              <a:t>, </a:t>
            </a:r>
            <a:r>
              <a:rPr lang="en-GB" sz="1400" dirty="0" err="1"/>
              <a:t>contact_number</a:t>
            </a:r>
            <a:r>
              <a:rPr lang="en-GB" sz="1400" dirty="0"/>
              <a:t>, notes.</a:t>
            </a:r>
          </a:p>
          <a:p>
            <a:pPr>
              <a:lnSpc>
                <a:spcPct val="110000"/>
              </a:lnSpc>
            </a:pPr>
            <a:r>
              <a:rPr lang="en-GB" sz="1400" dirty="0" err="1"/>
              <a:t>TeamMembers</a:t>
            </a:r>
            <a:r>
              <a:rPr lang="en-GB" sz="1400" dirty="0"/>
              <a:t>: *id, </a:t>
            </a:r>
            <a:r>
              <a:rPr lang="en-GB" sz="1400" dirty="0" err="1"/>
              <a:t>participant_id</a:t>
            </a:r>
            <a:r>
              <a:rPr lang="en-GB" sz="1400" dirty="0"/>
              <a:t>, name, role, </a:t>
            </a:r>
            <a:r>
              <a:rPr lang="en-GB" sz="1400" dirty="0" err="1"/>
              <a:t>contact_number</a:t>
            </a:r>
            <a:r>
              <a:rPr lang="en-GB" sz="1400" dirty="0"/>
              <a:t>.</a:t>
            </a:r>
          </a:p>
          <a:p>
            <a:pPr>
              <a:lnSpc>
                <a:spcPct val="110000"/>
              </a:lnSpc>
            </a:pPr>
            <a:r>
              <a:rPr lang="en-GB" sz="1400" dirty="0"/>
              <a:t>Accreditations: *id, </a:t>
            </a:r>
            <a:r>
              <a:rPr lang="en-GB" sz="1400" dirty="0" err="1"/>
              <a:t>team_member_id</a:t>
            </a:r>
            <a:r>
              <a:rPr lang="en-GB" sz="1400" dirty="0"/>
              <a:t>, </a:t>
            </a:r>
            <a:r>
              <a:rPr lang="en-GB" sz="1400" dirty="0" err="1"/>
              <a:t>valid_from</a:t>
            </a:r>
            <a:r>
              <a:rPr lang="en-GB" sz="1400" dirty="0"/>
              <a:t>, </a:t>
            </a:r>
            <a:r>
              <a:rPr lang="en-GB" sz="1400" dirty="0" err="1"/>
              <a:t>valid_to</a:t>
            </a:r>
            <a:r>
              <a:rPr lang="en-GB" sz="1400" dirty="0"/>
              <a:t>.</a:t>
            </a:r>
          </a:p>
          <a:p>
            <a:pPr>
              <a:lnSpc>
                <a:spcPct val="110000"/>
              </a:lnSpc>
            </a:pPr>
            <a:r>
              <a:rPr lang="en-GB" sz="1400" dirty="0"/>
              <a:t>Stages: *id, name, location, capacity.</a:t>
            </a:r>
          </a:p>
          <a:p>
            <a:pPr>
              <a:lnSpc>
                <a:spcPct val="110000"/>
              </a:lnSpc>
            </a:pPr>
            <a:r>
              <a:rPr lang="en-GB" sz="1400" dirty="0"/>
              <a:t>Performances: *id, </a:t>
            </a:r>
            <a:r>
              <a:rPr lang="en-GB" sz="1400" dirty="0" err="1"/>
              <a:t>participant_id</a:t>
            </a:r>
            <a:r>
              <a:rPr lang="en-GB" sz="1400" dirty="0"/>
              <a:t>, </a:t>
            </a:r>
            <a:r>
              <a:rPr lang="en-GB" sz="1400" dirty="0" err="1"/>
              <a:t>stage_id</a:t>
            </a:r>
            <a:r>
              <a:rPr lang="en-GB" sz="1400" dirty="0"/>
              <a:t>, </a:t>
            </a:r>
            <a:r>
              <a:rPr lang="en-GB" sz="1400" dirty="0" err="1"/>
              <a:t>starts_at</a:t>
            </a:r>
            <a:r>
              <a:rPr lang="en-GB" sz="1400" dirty="0"/>
              <a:t>, </a:t>
            </a:r>
            <a:r>
              <a:rPr lang="en-GB" sz="1400" dirty="0" err="1"/>
              <a:t>ends_at</a:t>
            </a:r>
            <a:r>
              <a:rPr lang="en-GB" sz="1400" dirty="0"/>
              <a:t>.</a:t>
            </a:r>
          </a:p>
          <a:p>
            <a:pPr>
              <a:lnSpc>
                <a:spcPct val="110000"/>
              </a:lnSpc>
            </a:pPr>
            <a:r>
              <a:rPr lang="en-GB" sz="1400" dirty="0" err="1"/>
              <a:t>TechnicalBreaks</a:t>
            </a:r>
            <a:r>
              <a:rPr lang="en-GB" sz="1400" dirty="0"/>
              <a:t>: *id, </a:t>
            </a:r>
            <a:r>
              <a:rPr lang="en-GB" sz="1400" dirty="0" err="1"/>
              <a:t>stage_id</a:t>
            </a:r>
            <a:r>
              <a:rPr lang="en-GB" sz="1400" dirty="0"/>
              <a:t>, </a:t>
            </a:r>
            <a:r>
              <a:rPr lang="en-GB" sz="1400" dirty="0" err="1"/>
              <a:t>starts_at</a:t>
            </a:r>
            <a:r>
              <a:rPr lang="en-GB" sz="1400" dirty="0"/>
              <a:t>, </a:t>
            </a:r>
            <a:r>
              <a:rPr lang="en-GB" sz="1400" dirty="0" err="1"/>
              <a:t>ends_at</a:t>
            </a:r>
            <a:r>
              <a:rPr lang="en-GB" sz="1400" dirty="0"/>
              <a:t>, notes.</a:t>
            </a:r>
          </a:p>
          <a:p>
            <a:pPr>
              <a:lnSpc>
                <a:spcPct val="110000"/>
              </a:lnSpc>
            </a:pPr>
            <a:r>
              <a:rPr lang="en-GB" sz="1400" dirty="0"/>
              <a:t>Volunteers: *id, name, </a:t>
            </a:r>
            <a:r>
              <a:rPr lang="en-GB" sz="1400" dirty="0" err="1"/>
              <a:t>contact_number</a:t>
            </a:r>
            <a:r>
              <a:rPr lang="en-GB" sz="1400" dirty="0"/>
              <a:t>, role.</a:t>
            </a:r>
          </a:p>
          <a:p>
            <a:pPr>
              <a:lnSpc>
                <a:spcPct val="110000"/>
              </a:lnSpc>
            </a:pPr>
            <a:r>
              <a:rPr lang="en-GB" sz="1400" dirty="0" err="1"/>
              <a:t>VolunteerShifts</a:t>
            </a:r>
            <a:r>
              <a:rPr lang="en-GB" sz="1400" dirty="0"/>
              <a:t>: *id, </a:t>
            </a:r>
            <a:r>
              <a:rPr lang="en-GB" sz="1400" dirty="0" err="1"/>
              <a:t>volunteer_id</a:t>
            </a:r>
            <a:r>
              <a:rPr lang="en-GB" sz="1400" dirty="0"/>
              <a:t>, </a:t>
            </a:r>
            <a:r>
              <a:rPr lang="en-GB" sz="1400" dirty="0" err="1"/>
              <a:t>zone_id</a:t>
            </a:r>
            <a:r>
              <a:rPr lang="en-GB" sz="1400" dirty="0"/>
              <a:t>, </a:t>
            </a:r>
            <a:r>
              <a:rPr lang="en-GB" sz="1400" dirty="0" err="1"/>
              <a:t>starts_at</a:t>
            </a:r>
            <a:r>
              <a:rPr lang="en-GB" sz="1400" dirty="0"/>
              <a:t>, </a:t>
            </a:r>
            <a:r>
              <a:rPr lang="en-GB" sz="1400" dirty="0" err="1"/>
              <a:t>ends_at</a:t>
            </a:r>
            <a:r>
              <a:rPr lang="en-GB" sz="1400" dirty="0"/>
              <a:t>.</a:t>
            </a:r>
          </a:p>
          <a:p>
            <a:pPr>
              <a:lnSpc>
                <a:spcPct val="110000"/>
              </a:lnSpc>
            </a:pPr>
            <a:r>
              <a:rPr lang="en-GB" sz="1400" dirty="0"/>
              <a:t>Partners: *id, name, </a:t>
            </a:r>
            <a:r>
              <a:rPr lang="en-GB" sz="1400" dirty="0" err="1"/>
              <a:t>contact_number</a:t>
            </a:r>
            <a:r>
              <a:rPr lang="en-GB" sz="1400" dirty="0"/>
              <a:t>.</a:t>
            </a:r>
          </a:p>
          <a:p>
            <a:pPr>
              <a:lnSpc>
                <a:spcPct val="110000"/>
              </a:lnSpc>
            </a:pPr>
            <a:r>
              <a:rPr lang="en-GB" sz="1400" dirty="0"/>
              <a:t>Zones: *id, name, type, location.</a:t>
            </a:r>
            <a:endParaRPr lang="uk-UA" sz="1400" dirty="0"/>
          </a:p>
          <a:p>
            <a:pPr>
              <a:lnSpc>
                <a:spcPct val="110000"/>
              </a:lnSpc>
            </a:pPr>
            <a:r>
              <a:rPr lang="en-GB" sz="1400" dirty="0" err="1"/>
              <a:t>ActivationZones</a:t>
            </a:r>
            <a:r>
              <a:rPr lang="en-GB" sz="1400" dirty="0"/>
              <a:t>: *id, </a:t>
            </a:r>
            <a:r>
              <a:rPr lang="en-GB" sz="1400" dirty="0" err="1"/>
              <a:t>partner_id</a:t>
            </a:r>
            <a:r>
              <a:rPr lang="en-GB" sz="1400" dirty="0"/>
              <a:t>, </a:t>
            </a:r>
            <a:r>
              <a:rPr lang="en-GB" sz="1400" dirty="0" err="1"/>
              <a:t>zone_id</a:t>
            </a:r>
            <a:r>
              <a:rPr lang="en-GB" sz="1400" dirty="0"/>
              <a:t>, </a:t>
            </a:r>
            <a:r>
              <a:rPr lang="en-GB" sz="1400" dirty="0" err="1"/>
              <a:t>required_power</a:t>
            </a:r>
            <a:r>
              <a:rPr lang="en-GB" sz="1400" dirty="0"/>
              <a:t>, notes.</a:t>
            </a:r>
          </a:p>
          <a:p>
            <a:pPr>
              <a:lnSpc>
                <a:spcPct val="110000"/>
              </a:lnSpc>
            </a:pPr>
            <a:r>
              <a:rPr lang="en-GB" sz="1400" dirty="0" err="1"/>
              <a:t>LogisticItems</a:t>
            </a:r>
            <a:r>
              <a:rPr lang="en-GB" sz="1400" dirty="0"/>
              <a:t>: *id, </a:t>
            </a:r>
            <a:r>
              <a:rPr lang="en-GB" sz="1400" dirty="0" err="1"/>
              <a:t>zone_id</a:t>
            </a:r>
            <a:r>
              <a:rPr lang="en-GB" sz="1400" dirty="0"/>
              <a:t>, name, quantity.</a:t>
            </a:r>
          </a:p>
          <a:p>
            <a:pPr>
              <a:lnSpc>
                <a:spcPct val="110000"/>
              </a:lnSpc>
            </a:pPr>
            <a:r>
              <a:rPr lang="en-GB" sz="1400" dirty="0"/>
              <a:t>Tickets: *id, </a:t>
            </a:r>
            <a:r>
              <a:rPr lang="en-GB" sz="1400" dirty="0" err="1"/>
              <a:t>qr_code</a:t>
            </a:r>
            <a:r>
              <a:rPr lang="en-GB" sz="1400" dirty="0"/>
              <a:t>, type, </a:t>
            </a:r>
            <a:r>
              <a:rPr lang="en-GB" sz="1400" dirty="0" err="1"/>
              <a:t>buyer_name</a:t>
            </a:r>
            <a:r>
              <a:rPr lang="en-GB" sz="1400" dirty="0"/>
              <a:t>, </a:t>
            </a:r>
            <a:r>
              <a:rPr lang="en-GB" sz="1400" dirty="0" err="1"/>
              <a:t>contact_number</a:t>
            </a:r>
            <a:r>
              <a:rPr lang="en-GB" sz="1400" dirty="0"/>
              <a:t>, </a:t>
            </a:r>
            <a:r>
              <a:rPr lang="en-GB" sz="1400" dirty="0" err="1"/>
              <a:t>entrance_date</a:t>
            </a:r>
            <a:r>
              <a:rPr lang="en-GB" sz="1400" dirty="0"/>
              <a:t>, status.</a:t>
            </a:r>
          </a:p>
          <a:p>
            <a:pPr>
              <a:lnSpc>
                <a:spcPct val="110000"/>
              </a:lnSpc>
            </a:pPr>
            <a:r>
              <a:rPr lang="en-GB" sz="1400" dirty="0"/>
              <a:t>Incidents: *id, </a:t>
            </a:r>
            <a:r>
              <a:rPr lang="en-GB" sz="1400" dirty="0" err="1"/>
              <a:t>zone_id</a:t>
            </a:r>
            <a:r>
              <a:rPr lang="en-GB" sz="1400" dirty="0"/>
              <a:t>, </a:t>
            </a:r>
            <a:r>
              <a:rPr lang="en-GB" sz="1400" dirty="0" err="1"/>
              <a:t>ticket_id</a:t>
            </a:r>
            <a:r>
              <a:rPr lang="en-GB" sz="1400" dirty="0"/>
              <a:t>, type, description, </a:t>
            </a:r>
            <a:r>
              <a:rPr lang="en-GB" sz="1400" dirty="0" err="1"/>
              <a:t>happened_at</a:t>
            </a:r>
            <a:r>
              <a:rPr lang="en-GB" sz="1400" dirty="0"/>
              <a:t>.</a:t>
            </a:r>
          </a:p>
          <a:p>
            <a:pPr>
              <a:lnSpc>
                <a:spcPct val="110000"/>
              </a:lnSpc>
            </a:pPr>
            <a:r>
              <a:rPr lang="en-GB" sz="1400" dirty="0" err="1"/>
              <a:t>DailyReports</a:t>
            </a:r>
            <a:r>
              <a:rPr lang="en-GB" sz="1400" dirty="0"/>
              <a:t>: *id, date, summary, contents.</a:t>
            </a:r>
          </a:p>
          <a:p>
            <a:pPr>
              <a:lnSpc>
                <a:spcPct val="110000"/>
              </a:lnSpc>
            </a:pPr>
            <a:endParaRPr lang="uk-UA" sz="13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0694E1F-471C-4340-BE4B-28F2BF7D7A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627278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6317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1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A9D172-B9DE-FD0C-B6DC-5A0A19E2D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434438"/>
            <a:ext cx="2983229" cy="26129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/>
              <a:t>Схема бази даних</a:t>
            </a:r>
          </a:p>
        </p:txBody>
      </p:sp>
      <p:pic>
        <p:nvPicPr>
          <p:cNvPr id="5" name="Місце для вмісту 4">
            <a:extLst>
              <a:ext uri="{FF2B5EF4-FFF2-40B4-BE49-F238E27FC236}">
                <a16:creationId xmlns:a16="http://schemas.microsoft.com/office/drawing/2014/main" id="{8F00DE0D-A0C0-7670-6577-3C36717C9B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6380" y="739118"/>
            <a:ext cx="8512388" cy="5149999"/>
          </a:xfrm>
          <a:prstGeom prst="rect">
            <a:avLst/>
          </a:prstGeom>
        </p:spPr>
      </p:pic>
      <p:cxnSp>
        <p:nvCxnSpPr>
          <p:cNvPr id="18" name="Straight Connector 13">
            <a:extLst>
              <a:ext uri="{FF2B5EF4-FFF2-40B4-BE49-F238E27FC236}">
                <a16:creationId xmlns:a16="http://schemas.microsoft.com/office/drawing/2014/main" id="{426B4E86-32C4-273A-1ADF-6B4424354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3323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0BA75A-965C-1B85-CE91-1C687990E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737859" cy="1097280"/>
          </a:xfrm>
        </p:spPr>
        <p:txBody>
          <a:bodyPr>
            <a:normAutofit/>
          </a:bodyPr>
          <a:lstStyle/>
          <a:p>
            <a:r>
              <a:rPr lang="uk-UA"/>
              <a:t>Міграції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FD743F6-D779-7D39-AD76-B43C4680DC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236"/>
            <a:ext cx="4775200" cy="36669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k-UA" dirty="0"/>
              <a:t>Під кожну сутність було створено окрему міграцію.</a:t>
            </a:r>
          </a:p>
          <a:p>
            <a:pPr marL="0" indent="0">
              <a:buNone/>
            </a:pPr>
            <a:endParaRPr lang="uk-UA" dirty="0"/>
          </a:p>
        </p:txBody>
      </p:sp>
      <p:pic>
        <p:nvPicPr>
          <p:cNvPr id="7" name="Рисунок 6" descr="Зображення, що містить текст, знімок екрана, програмне забезпечення, Мультимедійне програмне забезпечення&#10;&#10;Вміст на основі ШІ може бути неправильним.">
            <a:extLst>
              <a:ext uri="{FF2B5EF4-FFF2-40B4-BE49-F238E27FC236}">
                <a16:creationId xmlns:a16="http://schemas.microsoft.com/office/drawing/2014/main" id="{83993444-BDDD-504C-95E3-4824CDF97B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5547" y="1524000"/>
            <a:ext cx="5545462" cy="4776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697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D57CDB-2663-8D65-40F3-4A01DDDFF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en-US" dirty="0"/>
              <a:t>LINQ </a:t>
            </a:r>
            <a:r>
              <a:rPr lang="uk-UA" dirty="0"/>
              <a:t>запити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19310A3-0A6D-DA1D-CAD1-7F0DD2E7F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61673"/>
            <a:ext cx="10890929" cy="35362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k-UA" dirty="0"/>
              <a:t>Я написав 5 </a:t>
            </a:r>
            <a:r>
              <a:rPr lang="en-US" dirty="0"/>
              <a:t>LINQ </a:t>
            </a:r>
            <a:r>
              <a:rPr lang="uk-UA" dirty="0"/>
              <a:t>запитів з використанням методів:</a:t>
            </a:r>
          </a:p>
          <a:p>
            <a:r>
              <a:rPr lang="en-US" dirty="0"/>
              <a:t>Where</a:t>
            </a:r>
          </a:p>
          <a:p>
            <a:r>
              <a:rPr lang="en-US" dirty="0" err="1"/>
              <a:t>FirstOrDefault</a:t>
            </a:r>
            <a:endParaRPr lang="en-US" dirty="0"/>
          </a:p>
          <a:p>
            <a:r>
              <a:rPr lang="en-US" dirty="0"/>
              <a:t>Include</a:t>
            </a:r>
          </a:p>
          <a:p>
            <a:r>
              <a:rPr lang="en-US" dirty="0" err="1"/>
              <a:t>OrderBy</a:t>
            </a:r>
            <a:endParaRPr lang="en-US" dirty="0"/>
          </a:p>
          <a:p>
            <a:r>
              <a:rPr lang="en-US" dirty="0"/>
              <a:t>Average</a:t>
            </a:r>
            <a:endParaRPr lang="uk-UA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7752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70E4A3-9181-C26F-4E1B-1EE9F7B41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</a:t>
            </a:r>
            <a:endParaRPr lang="uk-UA" dirty="0"/>
          </a:p>
        </p:txBody>
      </p:sp>
      <p:pic>
        <p:nvPicPr>
          <p:cNvPr id="5" name="Місце для вмісту 4">
            <a:extLst>
              <a:ext uri="{FF2B5EF4-FFF2-40B4-BE49-F238E27FC236}">
                <a16:creationId xmlns:a16="http://schemas.microsoft.com/office/drawing/2014/main" id="{4FC8F3AF-7B84-C0C8-413A-F9BE555C96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0081" y="2532608"/>
            <a:ext cx="10891837" cy="179278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AA26E73-B609-B522-A05A-FFBE39BCAF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81" y="4743449"/>
            <a:ext cx="6257925" cy="74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361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196FFD-4DA2-D5A9-A4BB-0BD7D35B4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FirstOrDefault</a:t>
            </a:r>
            <a:endParaRPr lang="uk-UA" dirty="0"/>
          </a:p>
        </p:txBody>
      </p:sp>
      <p:pic>
        <p:nvPicPr>
          <p:cNvPr id="5" name="Місце для вмісту 4">
            <a:extLst>
              <a:ext uri="{FF2B5EF4-FFF2-40B4-BE49-F238E27FC236}">
                <a16:creationId xmlns:a16="http://schemas.microsoft.com/office/drawing/2014/main" id="{CD4A83A2-B56D-7701-7E49-BF12029C91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0078" y="2225040"/>
            <a:ext cx="10708641" cy="194478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2F83040-F2DC-6B51-7420-20D019B08C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78" y="4500562"/>
            <a:ext cx="4565275" cy="73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2478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6A207B-4654-58A8-5626-ED999DC7C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Include</a:t>
            </a:r>
            <a:endParaRPr lang="uk-UA" dirty="0"/>
          </a:p>
        </p:txBody>
      </p:sp>
      <p:pic>
        <p:nvPicPr>
          <p:cNvPr id="5" name="Місце для вмісту 4">
            <a:extLst>
              <a:ext uri="{FF2B5EF4-FFF2-40B4-BE49-F238E27FC236}">
                <a16:creationId xmlns:a16="http://schemas.microsoft.com/office/drawing/2014/main" id="{2FCD667A-FDE4-B7BF-835D-2D596517E1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0992" y="2302192"/>
            <a:ext cx="10642344" cy="208692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E09B53B-CC5F-462A-08BF-1F3A049A42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992" y="4648200"/>
            <a:ext cx="58674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6252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667196-ADD5-7C6F-2518-71CC91567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OrderBy</a:t>
            </a:r>
            <a:endParaRPr lang="uk-UA" dirty="0"/>
          </a:p>
        </p:txBody>
      </p:sp>
      <p:pic>
        <p:nvPicPr>
          <p:cNvPr id="5" name="Місце для вмісту 4">
            <a:extLst>
              <a:ext uri="{FF2B5EF4-FFF2-40B4-BE49-F238E27FC236}">
                <a16:creationId xmlns:a16="http://schemas.microsoft.com/office/drawing/2014/main" id="{084D61EC-E49A-40FA-2368-4AAA71F603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9171" y="2464560"/>
            <a:ext cx="10891837" cy="192456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2643D08-D5BA-3F56-CAEA-1285EFB960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71" y="4705985"/>
            <a:ext cx="6648450" cy="173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3381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1EFB0E-934F-682E-8F62-DCB923DF3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Average	</a:t>
            </a:r>
            <a:endParaRPr lang="uk-UA" dirty="0"/>
          </a:p>
        </p:txBody>
      </p:sp>
      <p:pic>
        <p:nvPicPr>
          <p:cNvPr id="5" name="Місце для вмісту 4">
            <a:extLst>
              <a:ext uri="{FF2B5EF4-FFF2-40B4-BE49-F238E27FC236}">
                <a16:creationId xmlns:a16="http://schemas.microsoft.com/office/drawing/2014/main" id="{0512A9D5-0EBE-EFFB-CABE-74D8DA36B0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0992" y="2468881"/>
            <a:ext cx="9510670" cy="152399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3FA167F-3FBC-114D-C70D-5E5E5080CB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79" y="4333875"/>
            <a:ext cx="5730241" cy="760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8174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326867-DC81-7AD6-EACC-6654F3A4E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473198"/>
            <a:ext cx="7414029" cy="269686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/>
              <a:t>Дякую за увагу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B9E2C38-33D2-1944-B9C2-8965AFC61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0869" y="4733523"/>
            <a:ext cx="73152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9078795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355</Words>
  <Application>Microsoft Office PowerPoint</Application>
  <PresentationFormat>Широкий екран</PresentationFormat>
  <Paragraphs>40</Paragraphs>
  <Slides>12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12</vt:i4>
      </vt:variant>
    </vt:vector>
  </HeadingPairs>
  <TitlesOfParts>
    <vt:vector size="15" baseType="lpstr">
      <vt:lpstr>Arial</vt:lpstr>
      <vt:lpstr>Grandview Display</vt:lpstr>
      <vt:lpstr>DashVTI</vt:lpstr>
      <vt:lpstr>Моделювання бази даних координації подій</vt:lpstr>
      <vt:lpstr>Завдання</vt:lpstr>
      <vt:lpstr>Аналіз предметної області</vt:lpstr>
      <vt:lpstr>Схема бази даних</vt:lpstr>
      <vt:lpstr>Міграції</vt:lpstr>
      <vt:lpstr>LINQ запити</vt:lpstr>
      <vt:lpstr>Where</vt:lpstr>
      <vt:lpstr>FirstOrDefault</vt:lpstr>
      <vt:lpstr>Include</vt:lpstr>
      <vt:lpstr>OrderBy</vt:lpstr>
      <vt:lpstr>Average </vt:lpstr>
      <vt:lpstr>Дякую за увагу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Emisu _</dc:creator>
  <cp:lastModifiedBy>Emisu _</cp:lastModifiedBy>
  <cp:revision>6</cp:revision>
  <dcterms:created xsi:type="dcterms:W3CDTF">2025-11-17T01:04:59Z</dcterms:created>
  <dcterms:modified xsi:type="dcterms:W3CDTF">2025-11-17T10:56:43Z</dcterms:modified>
</cp:coreProperties>
</file>